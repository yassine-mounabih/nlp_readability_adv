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74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71" r:id="rId14"/>
    <p:sldId id="266" r:id="rId15"/>
    <p:sldId id="269" r:id="rId16"/>
    <p:sldId id="270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Hausse de MAE</c:v>
                </c:pt>
              </c:strCache>
            </c:strRef>
          </c:tx>
          <c:spPr>
            <a:solidFill>
              <a:srgbClr val="058E89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58E8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8E8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8E8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58E8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58E89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58E8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058E89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058E89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058E89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058E89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EB694C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EB694C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EB694C"/>
              </a:solidFill>
              <a:effectLst/>
            </c:spPr>
          </c:dPt>
          <c:dLbls>
            <c:numFmt formatCode="0.000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0" i="0" u="none" strike="noStrike" kern="1200" baseline="0">
                    <a:solidFill>
                      <a:srgbClr val="122A43"/>
                    </a:solidFill>
                    <a:latin typeface="Aptos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Sheet1!$A$2:$A$14</c:f>
              <c:strCache>
                <c:ptCount val="13"/>
                <c:pt idx="0">
                  <c:v>syllables_per_word</c:v>
                </c:pt>
                <c:pt idx="1">
                  <c:v>flesch_kincaid_grade</c:v>
                </c:pt>
                <c:pt idx="2">
                  <c:v>flesch_reading_ease</c:v>
                </c:pt>
                <c:pt idx="3">
                  <c:v>word_count</c:v>
                </c:pt>
                <c:pt idx="4">
                  <c:v>sentence_length_std</c:v>
                </c:pt>
                <c:pt idx="5">
                  <c:v>long_word_ratio</c:v>
                </c:pt>
                <c:pt idx="6">
                  <c:v>avg_word_length</c:v>
                </c:pt>
                <c:pt idx="7">
                  <c:v>lexical_cohesion</c:v>
                </c:pt>
                <c:pt idx="8">
                  <c:v>lexical_diversity</c:v>
                </c:pt>
                <c:pt idx="9">
                  <c:v>connector_ratio</c:v>
                </c:pt>
                <c:pt idx="10">
                  <c:v>polysyllabic_ratio</c:v>
                </c:pt>
                <c:pt idx="11">
                  <c:v>avg_sentence_length</c:v>
                </c:pt>
                <c:pt idx="12">
                  <c:v>sentence_count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0.0614</c:v>
                </c:pt>
                <c:pt idx="1">
                  <c:v>0.04</c:v>
                </c:pt>
                <c:pt idx="2">
                  <c:v>0.0218</c:v>
                </c:pt>
                <c:pt idx="3">
                  <c:v>0.0096</c:v>
                </c:pt>
                <c:pt idx="4">
                  <c:v>0.0045</c:v>
                </c:pt>
                <c:pt idx="5">
                  <c:v>0.001</c:v>
                </c:pt>
                <c:pt idx="6">
                  <c:v>0.0006</c:v>
                </c:pt>
                <c:pt idx="7">
                  <c:v>0.0001</c:v>
                </c:pt>
                <c:pt idx="8">
                  <c:v>0</c:v>
                </c:pt>
                <c:pt idx="9">
                  <c:v>0</c:v>
                </c:pt>
                <c:pt idx="10">
                  <c:v>-0.0001</c:v>
                </c:pt>
                <c:pt idx="11">
                  <c:v>-0.0006</c:v>
                </c:pt>
                <c:pt idx="12">
                  <c:v>-0.0008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000" b="0" i="0" u="none" strike="noStrike" kern="1200" baseline="0">
                <a:solidFill>
                  <a:srgbClr val="122A43"/>
                </a:solidFill>
                <a:latin typeface="Aptos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07"/>
          <c:min val="-0.02"/>
        </c:scaling>
        <c:delete val="0"/>
        <c:axPos val="t"/>
        <c:majorGridlines>
          <c:spPr>
            <a:ln w="6350" cap="flat" cmpd="sng" algn="ctr">
              <a:solidFill>
                <a:srgbClr val="E2E9EF"/>
              </a:solidFill>
              <a:prstDash val="solid"/>
              <a:round/>
            </a:ln>
          </c:spPr>
        </c:majorGridlines>
        <c:title>
          <c:tx>
            <c:rich>
              <a:bodyPr rot="0" spcFirstLastPara="0" vertOverflow="ellipsis" vert="horz" wrap="square" anchor="ctr" anchorCtr="1"/>
              <a:lstStyle/>
              <a:p>
                <a:pPr>
                  <a:defRPr lang="en-US" sz="1000" b="0" i="0" u="none" strike="noStrike" kern="1200" baseline="0">
                    <a:solidFill>
                      <a:srgbClr val="667A8C"/>
                    </a:solidFill>
                    <a:latin typeface="Aptos"/>
                    <a:ea typeface="+mn-ea"/>
                    <a:cs typeface="+mn-cs"/>
                  </a:defRPr>
                </a:pPr>
                <a:r>
                  <a:rPr sz="1000" b="0" i="0" u="none" strike="noStrike">
                    <a:solidFill>
                      <a:srgbClr val="667A8C"/>
                    </a:solidFill>
                    <a:latin typeface="Aptos"/>
                  </a:rPr>
                  <a:t>Hausse de MAE après permutation</a:t>
                </a:r>
                <a:endParaRPr sz="1000" b="0" i="0" u="none" strike="noStrike">
                  <a:solidFill>
                    <a:srgbClr val="667A8C"/>
                  </a:solidFill>
                  <a:latin typeface="Aptos"/>
                </a:endParaRPr>
              </a:p>
            </c:rich>
          </c:tx>
          <c:layout/>
          <c:overlay val="0"/>
        </c:title>
        <c:numFmt formatCode="0.00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rgbClr val="667A8C"/>
                </a:solidFill>
                <a:latin typeface="Aptos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4bd2611d-b669-4080-924e-c410c6444663}"/>
      </c:ext>
    </c:extLst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</a:defRPr>
            </a:lvl9pPr>
          </a:lstStyle>
          <a:p>
            <a:fld id="{B5157346-73C3-47B6-9B84-A6B21D104D77}" type="slidenum">
              <a:rPr lang="fr-FR" altLang="fr-FR"/>
            </a:fld>
            <a:endParaRPr lang="fr-FR" altLang="fr-FR"/>
          </a:p>
        </p:txBody>
      </p:sp>
      <p:sp>
        <p:nvSpPr>
          <p:cNvPr id="51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12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fr-FR" altLang="fr-F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00:30. Poser la problématique : peut-on prédire la facilité de lecture d'un passage anglais (BT_easiness) et mesurer la continuité entre phrases ? Besoin : les formules classiques ne voient que la surface. Approche : régression supervisée avec trois familles de représentations. Objectif : modèle sans fuite + application Streamlit. Annoncer que l'on discutera aussi les limites.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00:25. Source CLEAR Corpus ; 4724 passages bruts, 4723 après nettoyage. Cible BT_easiness issue d'annotations humaines ; l'échelle peut être négative. Métadonnées auteur+titre pour le split groupé, jamais comme features.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00:35. Retrait des champs incomplets et des doublons normalisés, sans supprimer ponctuation ni mots vides. Les 13 variables : longueur des phrases, mots longs, syllabes, diversité lexicale, connecteurs, Jaccard, Flesch, Flesch-Kincaid. Segmentation heuristique, sensible aux abréviations.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00:35. Approches comparées : 30k TF-IDF mots, 30k caractères, 13 features, 384 dimensions MiniLM (all-MiniLM-L6-v2, non entraîné sur CLEAR). Vecteur hybride 60 397 valeurs. Justifier : le TF-IDF capte le lexique, les embeddings le sens, les traits sont interprétables.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00:35. GroupShuffleSplit regroupe les passages d'un même couple auteur/titre. Train 3309, validation 702, test 712. GroupKFold 5 plis sur le développement ; vectoriseurs et scaler ajustés sur chaque train de pli. Réentraînement final sur train+validation = 4011.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00:35. Cinq représentations comparées avec Ridge régularisé (Random Forest réservé aux 13 traits). Ridge adapté à la très haute dimension. Choix sur la MAE de validation croisée uniquement, jamais sur le test. Tout est sauvegardé dans un artefact joblib réutilisé par Streamlit.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00:45. Résultat test : MAE 0,5108, RMSE 0,6405, R² 0,6289. Baseline : MAE 0,8652, R² ≈ 0. Amélioration d'environ 41 %. Le test n'a servi qu'une fois.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00:45. Permutation par groupes : MiniLM +0,2103, linguistique +0,1029, TF-IDF caractères +0,0622, TF-IDF mots +0,0204. L'erreur croît avec la longueur (0,486 → 0,535). Limites : un seul split test, catégories relatives (tertiles) et non niveaux scolaires, MiniLM non conçu pour la lisibilité.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00:40. Importance par permutation des 13 traits sur le test (MAE de base 0,5108). syllables_per_word +0,0614, flesch_kincaid_grade +0,0400, flesch_reading_ease +0,0218, word_count +0,0096. lexical_cohesion +0,0001 : inutile pour la prédiction, cohérent avec la limite sur la cohésion lexicale. Valeurs négatives : bruit. Ce sont des dépendances du modèle, pas des causes.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00:30. Présenter les deux indicateurs et pourquoi ils sont séparés. Cohésion lexicale : Jaccard des mots de contenu (plus de 2 lettres, sans mots vides) entre phrases voisines, moyenné ; elle rate synonymes et reformulations. Cohésion sémantique : cosinus entre embeddings MiniLM normalisés de phrases voisines, moyenné ; elle capte la proximité de sens mais pas la logique. Ils peuvent diverger : un texte peut rester sur le même sujet sans répéter les mêmes mots. Ni l'un ni l'autre ne valide la cohérence logique.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00:30. Quatre limites : 1) textes très courts ou très longs, moins fiables car hors distribution CLEAR (113 à 215 mots) ; 2) cohésion lexicale (Jaccard) peu fiable, importance quasi nulle dans le modèle ; 3) anglais uniquement ; 4) aucune mesure de cohérence logique, la similarité cosinus ne détecte pas les contradictions. Piste : validation externe et NLI.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00:45 (démo ~0,5 min). Lancer l'application : coller un passage, choisir le mode, cliquer Analyze. Résultat illustratif réel du notebook : BT 0,077, 83 mots, 6 phrases, cosinus 0,43, Jaccard 0,0202. Montrer le tableau et la courbe des similarités, puis les conseils heuristiques et l'avertissement pour texte long.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00:25. Résumer : Ridge hybride meilleur sur CLEAR, MAE test 0,5108 ; traitement des longues saisies sans garantie de calibration ; continuité sémantique exploratoire, pas logique. Perspectives : validation externe, annotations humaines, NLI pour les contradictions. Merci.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32"/>
          <p:cNvSpPr>
            <a:spLocks noChangeArrowheads="1"/>
          </p:cNvSpPr>
          <p:nvPr userDrawn="1"/>
        </p:nvSpPr>
        <p:spPr bwMode="auto">
          <a:xfrm>
            <a:off x="1773768" y="2781300"/>
            <a:ext cx="8691033" cy="1800225"/>
          </a:xfrm>
          <a:prstGeom prst="flowChartAlternateProcess">
            <a:avLst/>
          </a:prstGeom>
          <a:noFill/>
          <a:ln w="9525">
            <a:solidFill>
              <a:schemeClr val="bg2"/>
            </a:solidFill>
            <a:miter lim="800000"/>
          </a:ln>
          <a:effectLst>
            <a:prstShdw prst="shdw17" dist="17961" dir="13500000">
              <a:srgbClr val="6C89DA">
                <a:alpha val="74997"/>
              </a:srgbClr>
            </a:prst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alibri" panose="020F050202020403020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pic>
        <p:nvPicPr>
          <p:cNvPr id="3" name="Picture 51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101" y="2420939"/>
            <a:ext cx="3071284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Rectangle 53"/>
          <p:cNvSpPr>
            <a:spLocks noChangeArrowheads="1"/>
          </p:cNvSpPr>
          <p:nvPr userDrawn="1"/>
        </p:nvSpPr>
        <p:spPr bwMode="auto">
          <a:xfrm>
            <a:off x="0" y="165100"/>
            <a:ext cx="12192000" cy="717551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50000">
                <a:srgbClr val="C1D6FF"/>
              </a:gs>
              <a:gs pos="100000">
                <a:srgbClr val="FFFFFF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alibri" panose="020F050202020403020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</a:defRPr>
            </a:lvl9pPr>
          </a:lstStyle>
          <a:p>
            <a:pPr eaLnBrk="1" hangingPunct="1">
              <a:defRPr/>
            </a:pPr>
            <a:endParaRPr lang="fr-FR" altLang="fr-FR">
              <a:cs typeface="Arial" panose="020B0604020202020204" pitchFamily="34" charset="0"/>
            </a:endParaRPr>
          </a:p>
        </p:txBody>
      </p:sp>
      <p:pic>
        <p:nvPicPr>
          <p:cNvPr id="5" name="Image 4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000" y="125413"/>
            <a:ext cx="1399117" cy="727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17" descr="tri_logo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9600" y="92075"/>
            <a:ext cx="1117600" cy="863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23"/>
          <p:cNvSpPr>
            <a:spLocks noChangeArrowheads="1"/>
          </p:cNvSpPr>
          <p:nvPr userDrawn="1"/>
        </p:nvSpPr>
        <p:spPr bwMode="auto">
          <a:xfrm>
            <a:off x="3126319" y="152400"/>
            <a:ext cx="5922433" cy="70008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tabLst>
                <a:tab pos="4457700" algn="r"/>
              </a:tabLst>
              <a:defRPr/>
            </a:pPr>
            <a:r>
              <a:rPr lang="fr-FR" sz="1000" dirty="0">
                <a:solidFill>
                  <a:srgbClr val="1321A1"/>
                </a:solidFill>
                <a:latin typeface="Arial Unicode MS" pitchFamily="34" charset="-128"/>
                <a:ea typeface="Times New Roman" panose="02020603050405020304" pitchFamily="18" charset="0"/>
                <a:cs typeface="Arial Unicode MS" pitchFamily="34" charset="-128"/>
              </a:rPr>
              <a:t>Ecole Nationale des Sciences Appliquées d’El Jadida </a:t>
            </a:r>
            <a:endParaRPr lang="fr-FR" sz="1000" dirty="0">
              <a:solidFill>
                <a:srgbClr val="1321A1"/>
              </a:solidFill>
              <a:latin typeface="Arial Unicode MS" pitchFamily="34" charset="-128"/>
              <a:ea typeface="Times New Roman" panose="02020603050405020304" pitchFamily="18" charset="0"/>
              <a:cs typeface="Arial Unicode MS" pitchFamily="34" charset="-128"/>
            </a:endParaRP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tabLst>
                <a:tab pos="4457700" algn="r"/>
              </a:tabLst>
              <a:defRPr/>
            </a:pPr>
            <a:r>
              <a:rPr lang="fr-FR" sz="1000" dirty="0">
                <a:solidFill>
                  <a:srgbClr val="1321A1"/>
                </a:solidFill>
                <a:latin typeface="Arial Unicode MS" pitchFamily="34" charset="-128"/>
                <a:ea typeface="Times New Roman" panose="02020603050405020304" pitchFamily="18" charset="0"/>
                <a:cs typeface="Arial Unicode MS" pitchFamily="34" charset="-128"/>
              </a:rPr>
              <a:t>Département  Télécommunications, Réseaux et Informatique</a:t>
            </a:r>
            <a:endParaRPr lang="fr-FR" sz="1000" dirty="0">
              <a:solidFill>
                <a:srgbClr val="1321A1"/>
              </a:solidFill>
              <a:latin typeface="Arial Unicode MS" pitchFamily="34" charset="-128"/>
              <a:ea typeface="Times New Roman" panose="02020603050405020304" pitchFamily="18" charset="0"/>
              <a:cs typeface="Arial Unicode MS" pitchFamily="34" charset="-128"/>
            </a:endParaRP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tabLst>
                <a:tab pos="4457700" algn="r"/>
              </a:tabLst>
              <a:defRPr/>
            </a:pPr>
            <a:r>
              <a:rPr lang="fr-FR" sz="1000" dirty="0">
                <a:solidFill>
                  <a:srgbClr val="1321A1"/>
                </a:solidFill>
                <a:latin typeface="Arial Unicode MS" pitchFamily="34" charset="-128"/>
                <a:ea typeface="Times New Roman" panose="02020603050405020304" pitchFamily="18" charset="0"/>
                <a:cs typeface="Arial Unicode MS" pitchFamily="34" charset="-128"/>
              </a:rPr>
              <a:t>Projets de fin d’année</a:t>
            </a:r>
            <a:endParaRPr lang="fr-FR" sz="1000" dirty="0">
              <a:solidFill>
                <a:srgbClr val="1321A1"/>
              </a:solidFill>
              <a:latin typeface="Arial Unicode MS" pitchFamily="34" charset="-128"/>
              <a:ea typeface="Times New Roman" panose="02020603050405020304" pitchFamily="18" charset="0"/>
              <a:cs typeface="Arial Unicode MS" pitchFamily="34" charset="-128"/>
            </a:endParaRP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tabLst>
                <a:tab pos="4457700" algn="r"/>
              </a:tabLst>
              <a:defRPr/>
            </a:pPr>
            <a:r>
              <a:rPr lang="fr-FR" sz="1055" dirty="0">
                <a:solidFill>
                  <a:srgbClr val="1321A1"/>
                </a:solidFill>
                <a:latin typeface="Arial Unicode MS" pitchFamily="34" charset="-128"/>
                <a:ea typeface="Times New Roman" panose="02020603050405020304" pitchFamily="18" charset="0"/>
                <a:cs typeface="Arial Unicode MS" pitchFamily="34" charset="-128"/>
              </a:rPr>
              <a:t>Année universitaire : 20…-20…</a:t>
            </a:r>
            <a:endParaRPr lang="fr-FR" sz="1055" dirty="0">
              <a:solidFill>
                <a:srgbClr val="1321A1"/>
              </a:solidFill>
              <a:latin typeface="Arial Unicode MS" pitchFamily="34" charset="-128"/>
              <a:ea typeface="Times New Roman" panose="02020603050405020304" pitchFamily="18" charset="0"/>
              <a:cs typeface="Arial Unicode MS" pitchFamily="34" charset="-128"/>
            </a:endParaRPr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53"/>
          <p:cNvSpPr>
            <a:spLocks noChangeArrowheads="1"/>
          </p:cNvSpPr>
          <p:nvPr/>
        </p:nvSpPr>
        <p:spPr bwMode="auto">
          <a:xfrm>
            <a:off x="1565276" y="5149851"/>
            <a:ext cx="9102725" cy="1163873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50000">
                <a:srgbClr val="C1D6FF"/>
              </a:gs>
              <a:gs pos="100000">
                <a:srgbClr val="FFFFFF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alibri" panose="020F050202020403020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</a:defRPr>
            </a:lvl9pPr>
          </a:lstStyle>
          <a:p>
            <a:pPr eaLnBrk="1" hangingPunct="1"/>
            <a:endParaRPr lang="fr-FR" altLang="fr-FR">
              <a:cs typeface="Arial" panose="020B0604020202020204" pitchFamily="34" charset="0"/>
            </a:endParaRPr>
          </a:p>
        </p:txBody>
      </p:sp>
      <p:sp>
        <p:nvSpPr>
          <p:cNvPr id="2069" name="Text Box 21"/>
          <p:cNvSpPr txBox="1">
            <a:spLocks noChangeArrowheads="1"/>
          </p:cNvSpPr>
          <p:nvPr/>
        </p:nvSpPr>
        <p:spPr bwMode="auto">
          <a:xfrm>
            <a:off x="2905125" y="1673860"/>
            <a:ext cx="6381751" cy="378460"/>
          </a:xfrm>
          <a:prstGeom prst="rect">
            <a:avLst/>
          </a:prstGeom>
          <a:noFill/>
          <a:ln>
            <a:noFill/>
          </a:ln>
          <a:effectLst>
            <a:outerShdw blurRad="63500" dist="38099" dir="2700000" algn="ctr" rotWithShape="0">
              <a:schemeClr val="bg2">
                <a:alpha val="50000"/>
              </a:schemeClr>
            </a:outerShdw>
          </a:effectLst>
        </p:spPr>
        <p:txBody>
          <a:bodyPr>
            <a:spAutoFit/>
          </a:bodyPr>
          <a:lstStyle/>
          <a:p>
            <a:pPr algn="ctr">
              <a:defRPr/>
            </a:pPr>
            <a:r>
              <a:rPr lang="fr-FR" sz="1865" b="1" dirty="0">
                <a:latin typeface="Calibri" panose="020F0502020204030204" charset="0"/>
                <a:ea typeface="Calibri" panose="020F0502020204030204" charset="0"/>
                <a:cs typeface="Calibri" panose="020F0502020204030204" charset="0"/>
              </a:rPr>
              <a:t>Mini Projet dans NLP </a:t>
            </a:r>
            <a:endParaRPr lang="fr-FR" sz="1865" b="1" dirty="0">
              <a:latin typeface="Calibri" panose="020F0502020204030204" charset="0"/>
              <a:ea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4100" name="Text Box 28"/>
          <p:cNvSpPr txBox="1">
            <a:spLocks noChangeArrowheads="1"/>
          </p:cNvSpPr>
          <p:nvPr/>
        </p:nvSpPr>
        <p:spPr bwMode="auto">
          <a:xfrm>
            <a:off x="1719264" y="5133976"/>
            <a:ext cx="3538537" cy="6451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</a:defRPr>
            </a:lvl9pPr>
          </a:lstStyle>
          <a:p>
            <a:pPr eaLnBrk="1" hangingPunct="1"/>
            <a:r>
              <a:rPr lang="fr-FR" altLang="fr-FR" i="1" dirty="0">
                <a:cs typeface="Times New Roman" panose="02020603050405020304" pitchFamily="18" charset="0"/>
              </a:rPr>
              <a:t>preparé par:</a:t>
            </a:r>
            <a:endParaRPr lang="fr-FR" altLang="fr-FR" i="1" dirty="0">
              <a:cs typeface="Times New Roman" panose="02020603050405020304" pitchFamily="18" charset="0"/>
            </a:endParaRPr>
          </a:p>
          <a:p>
            <a:pPr eaLnBrk="1" hangingPunct="1"/>
            <a:r>
              <a:rPr lang="fr-FR" altLang="fr-FR" b="1" i="1" dirty="0">
                <a:solidFill>
                  <a:srgbClr val="1321A1"/>
                </a:solidFill>
                <a:cs typeface="Times New Roman" panose="02020603050405020304" pitchFamily="18" charset="0"/>
              </a:rPr>
              <a:t>MOUNABIH Yassine</a:t>
            </a:r>
            <a:endParaRPr lang="en-US" altLang="fr-FR" b="1" i="1" dirty="0">
              <a:solidFill>
                <a:srgbClr val="1321A1"/>
              </a:solidFill>
              <a:cs typeface="Times New Roman" panose="02020603050405020304" pitchFamily="18" charset="0"/>
            </a:endParaRPr>
          </a:p>
        </p:txBody>
      </p:sp>
      <p:sp>
        <p:nvSpPr>
          <p:cNvPr id="4101" name="Text Box 30"/>
          <p:cNvSpPr txBox="1">
            <a:spLocks noChangeArrowheads="1"/>
          </p:cNvSpPr>
          <p:nvPr/>
        </p:nvSpPr>
        <p:spPr bwMode="auto">
          <a:xfrm>
            <a:off x="7620000" y="5133976"/>
            <a:ext cx="2895600" cy="12299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</a:defRPr>
            </a:lvl9pPr>
          </a:lstStyle>
          <a:p>
            <a:pPr algn="r" eaLnBrk="1" hangingPunct="1"/>
            <a:r>
              <a:rPr lang="fr-FR" altLang="fr-FR" i="1" dirty="0">
                <a:cs typeface="Times New Roman" panose="02020603050405020304" pitchFamily="18" charset="0"/>
              </a:rPr>
              <a:t>Encadré par:</a:t>
            </a:r>
            <a:endParaRPr lang="fr-FR" altLang="fr-FR" sz="1600" i="1" dirty="0">
              <a:cs typeface="Times New Roman" panose="02020603050405020304" pitchFamily="18" charset="0"/>
            </a:endParaRPr>
          </a:p>
          <a:p>
            <a:pPr algn="r" eaLnBrk="1" hangingPunct="1"/>
            <a:r>
              <a:rPr lang="fr-FR" altLang="fr-FR" b="1" i="1" dirty="0">
                <a:solidFill>
                  <a:srgbClr val="1321A1"/>
                </a:solidFill>
                <a:cs typeface="Times New Roman" panose="02020603050405020304" pitchFamily="18" charset="0"/>
              </a:rPr>
              <a:t>Prof. </a:t>
            </a:r>
            <a:r>
              <a:rPr lang="en-US" altLang="en-US" b="1" i="1" dirty="0">
                <a:solidFill>
                  <a:srgbClr val="1321A1"/>
                </a:solidFill>
                <a:cs typeface="Times New Roman" panose="02020603050405020304" pitchFamily="18" charset="0"/>
              </a:rPr>
              <a:t>Rahhal ERRATTAHI</a:t>
            </a:r>
            <a:endParaRPr lang="en-US" altLang="en-US" b="1" i="1" dirty="0">
              <a:solidFill>
                <a:srgbClr val="1321A1"/>
              </a:solidFill>
              <a:cs typeface="Times New Roman" panose="02020603050405020304" pitchFamily="18" charset="0"/>
            </a:endParaRPr>
          </a:p>
          <a:p>
            <a:pPr algn="r" eaLnBrk="1" hangingPunct="1"/>
            <a:r>
              <a:rPr lang="fr-FR" altLang="en-US" b="1" i="1" dirty="0">
                <a:solidFill>
                  <a:srgbClr val="1321A1"/>
                </a:solidFill>
                <a:cs typeface="Times New Roman" panose="02020603050405020304" pitchFamily="18" charset="0"/>
              </a:rPr>
              <a:t>Doc. </a:t>
            </a:r>
            <a:r>
              <a:rPr lang="en-US" altLang="en-US" b="1" i="1" dirty="0">
                <a:solidFill>
                  <a:srgbClr val="1321A1"/>
                </a:solidFill>
                <a:cs typeface="Times New Roman" panose="02020603050405020304" pitchFamily="18" charset="0"/>
              </a:rPr>
              <a:t>BELFROUH SANAE</a:t>
            </a:r>
            <a:r>
              <a:rPr lang="fr-FR" altLang="fr-FR" sz="2000" b="1" i="1" dirty="0">
                <a:solidFill>
                  <a:srgbClr val="1321A1"/>
                </a:solidFill>
                <a:cs typeface="Times New Roman" panose="02020603050405020304" pitchFamily="18" charset="0"/>
              </a:rPr>
              <a:t>	</a:t>
            </a:r>
            <a:r>
              <a:rPr lang="fr-FR" altLang="fr-FR" sz="1600" b="1" i="1" dirty="0">
                <a:solidFill>
                  <a:srgbClr val="1321A1"/>
                </a:solidFill>
                <a:cs typeface="Times New Roman" panose="02020603050405020304" pitchFamily="18" charset="0"/>
              </a:rPr>
              <a:t>	</a:t>
            </a:r>
            <a:endParaRPr lang="fr-FR" altLang="fr-FR" sz="1600" b="1" i="1" dirty="0">
              <a:solidFill>
                <a:srgbClr val="1321A1"/>
              </a:solidFill>
              <a:cs typeface="Times New Roman" panose="02020603050405020304" pitchFamily="18" charset="0"/>
            </a:endParaRPr>
          </a:p>
        </p:txBody>
      </p:sp>
      <p:sp>
        <p:nvSpPr>
          <p:cNvPr id="4102" name="TextBox 3"/>
          <p:cNvSpPr txBox="1">
            <a:spLocks noChangeArrowheads="1"/>
          </p:cNvSpPr>
          <p:nvPr/>
        </p:nvSpPr>
        <p:spPr bwMode="auto">
          <a:xfrm>
            <a:off x="1981200" y="3166634"/>
            <a:ext cx="8229600" cy="1076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</a:defRPr>
            </a:lvl9pPr>
          </a:lstStyle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en-US" sz="3200" b="1" dirty="0"/>
              <a:t>Analyse de la Cohérence et de la Lisibilité de Texte</a:t>
            </a:r>
            <a:endParaRPr lang="en-US" altLang="en-US" sz="3200" b="1" dirty="0"/>
          </a:p>
        </p:txBody>
      </p:sp>
      <p:sp>
        <p:nvSpPr>
          <p:cNvPr id="2" name="Rectangle 53"/>
          <p:cNvSpPr>
            <a:spLocks noChangeArrowheads="1"/>
          </p:cNvSpPr>
          <p:nvPr/>
        </p:nvSpPr>
        <p:spPr bwMode="auto">
          <a:xfrm>
            <a:off x="1770429" y="168045"/>
            <a:ext cx="9102725" cy="722908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50000">
                <a:srgbClr val="C1D6FF"/>
              </a:gs>
              <a:gs pos="100000">
                <a:srgbClr val="FFFFFF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alibri" panose="020F050202020403020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</a:defRPr>
            </a:lvl9pPr>
          </a:lstStyle>
          <a:p>
            <a:pPr eaLnBrk="1" hangingPunct="1"/>
            <a:endParaRPr lang="fr-FR" altLang="fr-FR">
              <a:cs typeface="Arial" panose="020B0604020202020204" pitchFamily="34" charset="0"/>
            </a:endParaRPr>
          </a:p>
        </p:txBody>
      </p:sp>
      <p:sp>
        <p:nvSpPr>
          <p:cNvPr id="3" name="Text Box 21"/>
          <p:cNvSpPr txBox="1">
            <a:spLocks noChangeArrowheads="1"/>
          </p:cNvSpPr>
          <p:nvPr/>
        </p:nvSpPr>
        <p:spPr bwMode="auto">
          <a:xfrm>
            <a:off x="2774217" y="125420"/>
            <a:ext cx="6381751" cy="583565"/>
          </a:xfrm>
          <a:prstGeom prst="rect">
            <a:avLst/>
          </a:prstGeom>
          <a:noFill/>
          <a:ln>
            <a:noFill/>
          </a:ln>
          <a:effectLst>
            <a:outerShdw blurRad="63500" dist="38099" dir="2700000" algn="ctr" rotWithShape="0">
              <a:schemeClr val="bg2">
                <a:alpha val="50000"/>
              </a:schemeClr>
            </a:outerShdw>
          </a:effectLst>
        </p:spPr>
        <p:txBody>
          <a:bodyPr>
            <a:spAutoFit/>
          </a:bodyPr>
          <a:lstStyle/>
          <a:p>
            <a:pPr algn="ctr">
              <a:defRPr/>
            </a:pPr>
            <a:r>
              <a:rPr lang="fr-FR" sz="1065" dirty="0">
                <a:solidFill>
                  <a:srgbClr val="1321A1"/>
                </a:solidFill>
                <a:latin typeface="Calibri" panose="020F0502020204030204" charset="0"/>
                <a:cs typeface="Times New Roman" panose="02020603050405020304" pitchFamily="18" charset="0"/>
              </a:rPr>
              <a:t>Ecole Nationale des Sciences Appliquées</a:t>
            </a:r>
            <a:endParaRPr lang="fr-FR" sz="1065" dirty="0">
              <a:solidFill>
                <a:srgbClr val="1321A1"/>
              </a:solidFill>
              <a:latin typeface="Calibri" panose="020F0502020204030204" charset="0"/>
              <a:cs typeface="Times New Roman" panose="02020603050405020304" pitchFamily="18" charset="0"/>
            </a:endParaRPr>
          </a:p>
          <a:p>
            <a:pPr algn="ctr">
              <a:defRPr/>
            </a:pPr>
            <a:r>
              <a:rPr lang="en-US" altLang="en-US" sz="1065" dirty="0">
                <a:solidFill>
                  <a:srgbClr val="1321A1"/>
                </a:solidFill>
                <a:latin typeface="Calibri" panose="020F0502020204030204" charset="0"/>
                <a:cs typeface="Times New Roman" panose="02020603050405020304" pitchFamily="18" charset="0"/>
              </a:rPr>
              <a:t>Telecommunications, </a:t>
            </a:r>
            <a:r>
              <a:rPr lang="fr-FR" altLang="en-US" sz="1065" dirty="0">
                <a:solidFill>
                  <a:srgbClr val="1321A1"/>
                </a:solidFill>
                <a:latin typeface="Calibri" panose="020F0502020204030204" charset="0"/>
                <a:cs typeface="Times New Roman" panose="02020603050405020304" pitchFamily="18" charset="0"/>
              </a:rPr>
              <a:t>Réseaux et Département IT </a:t>
            </a:r>
            <a:endParaRPr lang="fr-FR" altLang="en-US" sz="1065" dirty="0">
              <a:solidFill>
                <a:srgbClr val="1321A1"/>
              </a:solidFill>
              <a:latin typeface="Calibri" panose="020F0502020204030204" charset="0"/>
              <a:cs typeface="Times New Roman" panose="02020603050405020304" pitchFamily="18" charset="0"/>
            </a:endParaRPr>
          </a:p>
          <a:p>
            <a:pPr algn="ctr">
              <a:defRPr/>
            </a:pPr>
            <a:r>
              <a:rPr lang="fr-FR" sz="1065" dirty="0">
                <a:solidFill>
                  <a:srgbClr val="1321A1"/>
                </a:solidFill>
                <a:latin typeface="Calibri" panose="020F0502020204030204" charset="0"/>
                <a:cs typeface="Times New Roman" panose="02020603050405020304" pitchFamily="18" charset="0"/>
              </a:rPr>
              <a:t>Academic year : 2026-2027</a:t>
            </a:r>
            <a:endParaRPr lang="fr-FR" sz="1065" dirty="0">
              <a:solidFill>
                <a:srgbClr val="1321A1"/>
              </a:solidFill>
              <a:latin typeface="Calibri" panose="020F050202020403020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4864" cy="182880"/>
          </a:xfrm>
          <a:prstGeom prst="rect">
            <a:avLst/>
          </a:prstGeom>
          <a:solidFill>
            <a:srgbClr val="EB694C"/>
          </a:solidFill>
          <a:ln w="12700">
            <a:solidFill>
              <a:srgbClr val="EB69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— INTRODUCTION &amp; PROBLÉMATIQUE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Problématique et objectif du projet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1672" cy="0"/>
          </a:xfrm>
          <a:prstGeom prst="line">
            <a:avLst/>
          </a:prstGeom>
          <a:noFill/>
          <a:ln w="9525">
            <a:solidFill>
              <a:srgbClr val="E2E9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0" y="6455664"/>
            <a:ext cx="1399032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/ 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11091672" cy="1234440"/>
          </a:xfrm>
          <a:prstGeom prst="roundRect">
            <a:avLst>
              <a:gd name="adj" fmla="val 8889"/>
            </a:avLst>
          </a:prstGeom>
          <a:solidFill>
            <a:srgbClr val="122A43"/>
          </a:solidFill>
          <a:ln w="12700">
            <a:solidFill>
              <a:srgbClr val="122A4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08483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PROBLÉMATIQUE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37744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Peut-on prédire automatiquement la difficulté de lecture d’un </a:t>
            </a:r>
            <a:r>
              <a:rPr lang="fr-FR" alt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texte et mesurer sa cohérence sémantique et lexicale</a:t>
            </a: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?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48640" y="3429000"/>
            <a:ext cx="356616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E9EF"/>
            </a:solidFill>
            <a:prstDash val="solid"/>
          </a:ln>
          <a:effectLst>
            <a:outerShdw blurRad="76200" dist="25400" dir="5400000" algn="bl" rotWithShape="0">
              <a:srgbClr val="122A43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3429000"/>
            <a:ext cx="3383280" cy="64008"/>
          </a:xfrm>
          <a:prstGeom prst="rect">
            <a:avLst/>
          </a:prstGeom>
          <a:solidFill>
            <a:srgbClr val="058E89"/>
          </a:solidFill>
          <a:ln w="12700">
            <a:solidFill>
              <a:srgbClr val="058E8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611880"/>
            <a:ext cx="310896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 BESOIN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931920"/>
            <a:ext cx="3108960" cy="1463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Savoir vite si un texte est facile ou difficile à lire. Les formules classiques (Flesch) se limitent à des indices de surface : longueur des mots et des phrases.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25112" y="3429000"/>
            <a:ext cx="356616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E9EF"/>
            </a:solidFill>
            <a:prstDash val="solid"/>
          </a:ln>
          <a:effectLst>
            <a:outerShdw blurRad="76200" dist="25400" dir="5400000" algn="bl" rotWithShape="0">
              <a:srgbClr val="122A43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416552" y="3429000"/>
            <a:ext cx="3383280" cy="64008"/>
          </a:xfrm>
          <a:prstGeom prst="rect">
            <a:avLst/>
          </a:prstGeom>
          <a:solidFill>
            <a:srgbClr val="EB694C"/>
          </a:solidFill>
          <a:ln w="12700">
            <a:solidFill>
              <a:srgbClr val="EB694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53712" y="3611880"/>
            <a:ext cx="310896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NOTRE APPROCHE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553712" y="3931920"/>
            <a:ext cx="3108960" cy="1463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Régression supervisée sur le score humain BT_easiness : traits linguistiques, TF-IDF et embeddings MiniLM, comparés à une baseline.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01584" y="3429000"/>
            <a:ext cx="356616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E9EF"/>
            </a:solidFill>
            <a:prstDash val="solid"/>
          </a:ln>
          <a:effectLst>
            <a:outerShdw blurRad="76200" dist="25400" dir="5400000" algn="bl" rotWithShape="0">
              <a:srgbClr val="122A43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93024" y="3429000"/>
            <a:ext cx="3383280" cy="64008"/>
          </a:xfrm>
          <a:prstGeom prst="rect">
            <a:avLst/>
          </a:prstGeom>
          <a:solidFill>
            <a:srgbClr val="7B6BB0"/>
          </a:solidFill>
          <a:ln w="12700">
            <a:solidFill>
              <a:srgbClr val="7B6BB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330184" y="3611880"/>
            <a:ext cx="310896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OBJECTIF FINAL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330184" y="3931920"/>
            <a:ext cx="3108960" cy="1463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modèle Ridge hybride évalué sans fuite de données, et une application Streamlit : score, cohésion entre phrases, conseils d’écriture.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4864" cy="182880"/>
          </a:xfrm>
          <a:prstGeom prst="rect">
            <a:avLst/>
          </a:prstGeom>
          <a:solidFill>
            <a:srgbClr val="EB694C"/>
          </a:solidFill>
          <a:ln w="12700">
            <a:solidFill>
              <a:srgbClr val="EB69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— INTRODUCTION &amp; DATASET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CLEAR : prédire une difficulté de lecture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1672" cy="0"/>
          </a:xfrm>
          <a:prstGeom prst="line">
            <a:avLst/>
          </a:prstGeom>
          <a:noFill/>
          <a:ln w="9525">
            <a:solidFill>
              <a:srgbClr val="E2E9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0" y="6455664"/>
            <a:ext cx="1399032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/ 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2E9EF"/>
            </a:solidFill>
            <a:prstDash val="solid"/>
          </a:ln>
          <a:effectLst>
            <a:outerShdw blurRad="76200" dist="25400" dir="5400000" algn="bl" rotWithShape="0">
              <a:srgbClr val="122A43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77240" y="214884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4 724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7432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Extraits bruts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46120" y="23774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B69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3749040" y="201168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2E9EF"/>
            </a:solidFill>
            <a:prstDash val="solid"/>
          </a:ln>
          <a:effectLst>
            <a:outerShdw blurRad="76200" dist="25400" dir="5400000" algn="bl" rotWithShape="0">
              <a:srgbClr val="122A43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3977640" y="214884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4 723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3977640" y="27432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Extraits retenus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66560" y="2011680"/>
            <a:ext cx="487375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2E9EF"/>
            </a:solidFill>
            <a:prstDash val="solid"/>
          </a:ln>
          <a:effectLst>
            <a:outerShdw blurRad="76200" dist="25400" dir="5400000" algn="bl" rotWithShape="0">
              <a:srgbClr val="122A43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995160" y="2148840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VARIABLE CIBLE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995160" y="246888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BT_easiness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0" y="228600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Plus le score est élevé, plus le passage est jugé facile.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520440"/>
            <a:ext cx="11091545" cy="205105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2E9EF"/>
            </a:solidFill>
            <a:prstDash val="solid"/>
          </a:ln>
          <a:effectLst>
            <a:outerShdw blurRad="76200" dist="25400" dir="5400000" algn="bl" rotWithShape="0">
              <a:srgbClr val="122A43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365760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CHOIX DES DONNÉES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397764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Texte : colonne « Excerpt » ; </a:t>
            </a:r>
            <a:endParaRPr lang="en-US" sz="1400" dirty="0">
              <a:solidFill>
                <a:srgbClr val="122A43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note humaine : « BT_easiness ».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Auteur + titre servent au regroupement, jamais comme variables d’entrée.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Environ 174 mots par passage (113 à 215) ; </a:t>
            </a:r>
            <a:endParaRPr lang="en-US" sz="1400" dirty="0">
              <a:solidFill>
                <a:srgbClr val="122A43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langue : anglais.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4864" cy="182880"/>
          </a:xfrm>
          <a:prstGeom prst="rect">
            <a:avLst/>
          </a:prstGeom>
          <a:solidFill>
            <a:srgbClr val="EB694C"/>
          </a:solidFill>
          <a:ln w="12700">
            <a:solidFill>
              <a:srgbClr val="EB69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— PRÉTRAITEMENT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 variables linguistiques interprétables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1672" cy="0"/>
          </a:xfrm>
          <a:prstGeom prst="line">
            <a:avLst/>
          </a:prstGeom>
          <a:noFill/>
          <a:ln w="9525">
            <a:solidFill>
              <a:srgbClr val="E2E9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0" y="6455664"/>
            <a:ext cx="1399032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/ 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2464308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E2E9EF"/>
            </a:solidFill>
            <a:prstDash val="solid"/>
          </a:ln>
          <a:effectLst>
            <a:outerShdw blurRad="76200" dist="25400" dir="5400000" algn="bl" rotWithShape="0">
              <a:srgbClr val="122A43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31520" y="21488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B69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68880"/>
            <a:ext cx="2098548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NETTOYER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788920"/>
            <a:ext cx="2098548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Extraits vides, cibles manquantes, doublons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012948" y="2514600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B69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424428" y="2011680"/>
            <a:ext cx="2464308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E2E9EF"/>
            </a:solidFill>
            <a:prstDash val="solid"/>
          </a:ln>
          <a:effectLst>
            <a:outerShdw blurRad="76200" dist="25400" dir="5400000" algn="bl" rotWithShape="0">
              <a:srgbClr val="122A43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607308" y="21488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B69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607308" y="2468880"/>
            <a:ext cx="2098548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SEGMENTER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607308" y="2788920"/>
            <a:ext cx="2098548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Mots et phrases par règles simples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888736" y="2514600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B69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300216" y="2011680"/>
            <a:ext cx="2464308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E2E9EF"/>
            </a:solidFill>
            <a:prstDash val="solid"/>
          </a:ln>
          <a:effectLst>
            <a:outerShdw blurRad="76200" dist="25400" dir="5400000" algn="bl" rotWithShape="0">
              <a:srgbClr val="122A43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483096" y="21488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B69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483096" y="2468880"/>
            <a:ext cx="2098548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EXTRAIRE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83096" y="2788920"/>
            <a:ext cx="2098548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Longueur, syllabes, richesse, connecteurs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764524" y="2514600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B69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176004" y="2011680"/>
            <a:ext cx="2464308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E2E9EF"/>
            </a:solidFill>
            <a:prstDash val="solid"/>
          </a:ln>
          <a:effectLst>
            <a:outerShdw blurRad="76200" dist="25400" dir="5400000" algn="bl" rotWithShape="0">
              <a:srgbClr val="122A43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358884" y="21488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B69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358884" y="2468880"/>
            <a:ext cx="2098548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STANDARDISER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358884" y="2788920"/>
            <a:ext cx="2098548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Scaler ajusté uniquement au train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384048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122A43"/>
          </a:solidFill>
          <a:ln w="12700">
            <a:solidFill>
              <a:srgbClr val="122A4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397764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EXEMPLE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4297680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Teachers explain the lesson. Students understand the example.</a:t>
            </a:r>
            <a:endParaRPr lang="en-US" sz="18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4864" cy="182880"/>
          </a:xfrm>
          <a:prstGeom prst="rect">
            <a:avLst/>
          </a:prstGeom>
          <a:solidFill>
            <a:srgbClr val="EB694C"/>
          </a:solidFill>
          <a:ln w="12700">
            <a:solidFill>
              <a:srgbClr val="EB69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— REPRÉSENTATION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Rapprocher la forme et le sens du texte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Quatre familles de caractéristiques réunies dans un seul vecteur par passage.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1672" cy="0"/>
          </a:xfrm>
          <a:prstGeom prst="line">
            <a:avLst/>
          </a:prstGeom>
          <a:noFill/>
          <a:ln w="9525">
            <a:solidFill>
              <a:srgbClr val="E2E9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0" y="6455664"/>
            <a:ext cx="1399032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/ 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265176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9EF"/>
            </a:solidFill>
            <a:prstDash val="solid"/>
          </a:ln>
          <a:effectLst>
            <a:outerShdw blurRad="76200" dist="25400" dir="5400000" algn="bl" rotWithShape="0">
              <a:srgbClr val="122A43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011680"/>
            <a:ext cx="2468880" cy="64008"/>
          </a:xfrm>
          <a:prstGeom prst="rect">
            <a:avLst/>
          </a:prstGeom>
          <a:solidFill>
            <a:srgbClr val="058E89"/>
          </a:solidFill>
          <a:ln w="12700">
            <a:solidFill>
              <a:srgbClr val="058E8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24028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30 000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83464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TF-IDF mots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2004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Unigrammes + bigrammes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83280" y="2011680"/>
            <a:ext cx="265176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9EF"/>
            </a:solidFill>
            <a:prstDash val="solid"/>
          </a:ln>
          <a:effectLst>
            <a:outerShdw blurRad="76200" dist="25400" dir="5400000" algn="bl" rotWithShape="0">
              <a:srgbClr val="122A4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74720" y="2011680"/>
            <a:ext cx="2468880" cy="64008"/>
          </a:xfrm>
          <a:prstGeom prst="rect">
            <a:avLst/>
          </a:prstGeom>
          <a:solidFill>
            <a:srgbClr val="7B6BB0"/>
          </a:solidFill>
          <a:ln w="12700">
            <a:solidFill>
              <a:srgbClr val="7B6BB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611880" y="224028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7B6B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30 000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283464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TF-IDF caractères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32004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n-grammes 3 à 5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2011680"/>
            <a:ext cx="265176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9EF"/>
            </a:solidFill>
            <a:prstDash val="solid"/>
          </a:ln>
          <a:effectLst>
            <a:outerShdw blurRad="76200" dist="25400" dir="5400000" algn="bl" rotWithShape="0">
              <a:srgbClr val="122A43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09360" y="2011680"/>
            <a:ext cx="2468880" cy="64008"/>
          </a:xfrm>
          <a:prstGeom prst="rect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46520" y="224028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D9A4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283464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Linguistique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446520" y="32004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Complexité + cohésion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052560" y="2011680"/>
            <a:ext cx="265176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9EF"/>
            </a:solidFill>
            <a:prstDash val="solid"/>
          </a:ln>
          <a:effectLst>
            <a:outerShdw blurRad="76200" dist="25400" dir="5400000" algn="bl" rotWithShape="0">
              <a:srgbClr val="122A43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144000" y="2011680"/>
            <a:ext cx="2468880" cy="64008"/>
          </a:xfrm>
          <a:prstGeom prst="rect">
            <a:avLst/>
          </a:prstGeom>
          <a:solidFill>
            <a:srgbClr val="EB694C"/>
          </a:solidFill>
          <a:ln w="12700">
            <a:solidFill>
              <a:srgbClr val="EB694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281160" y="224028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EB69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384</a:t>
            </a:r>
            <a:endParaRPr lang="en-US" sz="3000" dirty="0"/>
          </a:p>
        </p:txBody>
      </p:sp>
      <p:sp>
        <p:nvSpPr>
          <p:cNvPr id="27" name="Text 25"/>
          <p:cNvSpPr txBox="1"/>
          <p:nvPr/>
        </p:nvSpPr>
        <p:spPr>
          <a:xfrm>
            <a:off x="9281160" y="283464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MiniLM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281160" y="32004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Embeddings préentraînés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384048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69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↓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2011680" y="4297680"/>
            <a:ext cx="8138160" cy="731520"/>
          </a:xfrm>
          <a:prstGeom prst="roundRect">
            <a:avLst>
              <a:gd name="adj" fmla="val 12500"/>
            </a:avLst>
          </a:prstGeom>
          <a:solidFill>
            <a:srgbClr val="122A43"/>
          </a:solidFill>
          <a:ln w="12700">
            <a:solidFill>
              <a:srgbClr val="122A4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286000" y="4297680"/>
            <a:ext cx="768096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7AE3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60 397 </a:t>
            </a: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caractéristiques possibles pour la représentation hybride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4864" cy="182880"/>
          </a:xfrm>
          <a:prstGeom prst="rect">
            <a:avLst/>
          </a:prstGeom>
          <a:solidFill>
            <a:srgbClr val="EB694C"/>
          </a:solidFill>
          <a:ln w="12700">
            <a:solidFill>
              <a:srgbClr val="EB69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— ENTRAÎNEMENT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protocole de test contre les fuites de données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1672" cy="0"/>
          </a:xfrm>
          <a:prstGeom prst="line">
            <a:avLst/>
          </a:prstGeom>
          <a:noFill/>
          <a:ln w="9525">
            <a:solidFill>
              <a:srgbClr val="E2E9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0" y="6455664"/>
            <a:ext cx="1399032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/ 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965960"/>
            <a:ext cx="11091672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9EF"/>
            </a:solidFill>
            <a:prstDash val="solid"/>
          </a:ln>
          <a:effectLst>
            <a:outerShdw blurRad="76200" dist="25400" dir="5400000" algn="bl" rotWithShape="0">
              <a:srgbClr val="122A43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77240" y="210312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4 723 EXTRAITS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7240" y="2468880"/>
            <a:ext cx="7431441" cy="320040"/>
          </a:xfrm>
          <a:prstGeom prst="rect">
            <a:avLst/>
          </a:prstGeom>
          <a:solidFill>
            <a:srgbClr val="058E89"/>
          </a:solidFill>
          <a:ln w="12700">
            <a:solidFill>
              <a:srgbClr val="058E8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08681" y="2468880"/>
            <a:ext cx="1576570" cy="320040"/>
          </a:xfrm>
          <a:prstGeom prst="rect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785251" y="2468880"/>
            <a:ext cx="1599029" cy="320040"/>
          </a:xfrm>
          <a:prstGeom prst="rect">
            <a:avLst/>
          </a:prstGeom>
          <a:solidFill>
            <a:srgbClr val="EB694C"/>
          </a:solidFill>
          <a:ln w="12700">
            <a:solidFill>
              <a:srgbClr val="EB69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926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3 309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33756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08681" y="29260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D9A4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702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208681" y="333756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785251" y="29260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EB69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712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9785251" y="333756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4069080"/>
            <a:ext cx="356616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2E9EF"/>
            </a:solidFill>
            <a:prstDash val="solid"/>
          </a:ln>
          <a:effectLst>
            <a:outerShdw blurRad="76200" dist="25400" dir="5400000" algn="bl" rotWithShape="0">
              <a:srgbClr val="122A43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31520" y="4160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B69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44348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GroupShuffleSplit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75488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Groupes ouvrage distincts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325112" y="4069080"/>
            <a:ext cx="356616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2E9EF"/>
            </a:solidFill>
            <a:prstDash val="solid"/>
          </a:ln>
          <a:effectLst>
            <a:outerShdw blurRad="76200" dist="25400" dir="5400000" algn="bl" rotWithShape="0">
              <a:srgbClr val="122A43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507992" y="4160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B69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507992" y="44348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GroupKFold · 5 plis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507992" y="475488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Sélection sur développement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101584" y="4069080"/>
            <a:ext cx="356616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2E9EF"/>
            </a:solidFill>
            <a:prstDash val="solid"/>
          </a:ln>
          <a:effectLst>
            <a:outerShdw blurRad="76200" dist="25400" dir="5400000" algn="bl" rotWithShape="0">
              <a:srgbClr val="122A43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284464" y="4160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B69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284464" y="44348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 sur train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284464" y="475488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Vectoriseurs / scaler sans fuite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 final réentraîné sur 4 011 passages de développement.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4864" cy="182880"/>
          </a:xfrm>
          <a:prstGeom prst="rect">
            <a:avLst/>
          </a:prstGeom>
          <a:solidFill>
            <a:srgbClr val="EB694C"/>
          </a:solidFill>
          <a:ln w="12700">
            <a:solidFill>
              <a:srgbClr val="EB69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— SÉLECTION DU MODÈLE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 hybride : meilleur en validation croisée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1672" cy="0"/>
          </a:xfrm>
          <a:prstGeom prst="line">
            <a:avLst/>
          </a:prstGeom>
          <a:noFill/>
          <a:ln w="9525">
            <a:solidFill>
              <a:srgbClr val="E2E9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0" y="6455664"/>
            <a:ext cx="1399032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/ 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11091672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9EF"/>
            </a:solidFill>
            <a:prstDash val="solid"/>
          </a:ln>
          <a:effectLst>
            <a:outerShdw blurRad="76200" dist="25400" dir="5400000" algn="bl" rotWithShape="0">
              <a:srgbClr val="122A43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2960" y="219456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Hybride complet · Ridge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91840" y="2249424"/>
            <a:ext cx="6217920" cy="182880"/>
          </a:xfrm>
          <a:prstGeom prst="roundRect">
            <a:avLst>
              <a:gd name="adj" fmla="val 25000"/>
            </a:avLst>
          </a:prstGeom>
          <a:solidFill>
            <a:srgbClr val="E2E9EF"/>
          </a:solidFill>
          <a:ln w="12700">
            <a:solidFill>
              <a:srgbClr val="E2E9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91840" y="2249424"/>
            <a:ext cx="4335667" cy="182880"/>
          </a:xfrm>
          <a:prstGeom prst="roundRect">
            <a:avLst>
              <a:gd name="adj" fmla="val 25000"/>
            </a:avLst>
          </a:prstGeom>
          <a:solidFill>
            <a:srgbClr val="058E89"/>
          </a:solidFill>
          <a:ln w="12700">
            <a:solidFill>
              <a:srgbClr val="058E8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46920" y="219456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69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0,4881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274320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MiniLM + linguistique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91840" y="2798064"/>
            <a:ext cx="6217920" cy="182880"/>
          </a:xfrm>
          <a:prstGeom prst="roundRect">
            <a:avLst>
              <a:gd name="adj" fmla="val 25000"/>
            </a:avLst>
          </a:prstGeom>
          <a:solidFill>
            <a:srgbClr val="E2E9EF"/>
          </a:solidFill>
          <a:ln w="12700">
            <a:solidFill>
              <a:srgbClr val="E2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91840" y="2798064"/>
            <a:ext cx="4445813" cy="182880"/>
          </a:xfrm>
          <a:prstGeom prst="roundRect">
            <a:avLst>
              <a:gd name="adj" fmla="val 25000"/>
            </a:avLst>
          </a:prstGeom>
          <a:solidFill>
            <a:srgbClr val="058E89"/>
          </a:solidFill>
          <a:ln w="12700">
            <a:solidFill>
              <a:srgbClr val="058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46920" y="27432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69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0,5005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32918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TF-IDF + linguistique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3346704"/>
            <a:ext cx="6217920" cy="182880"/>
          </a:xfrm>
          <a:prstGeom prst="roundRect">
            <a:avLst>
              <a:gd name="adj" fmla="val 25000"/>
            </a:avLst>
          </a:prstGeom>
          <a:solidFill>
            <a:srgbClr val="E2E9EF"/>
          </a:solidFill>
          <a:ln w="12700">
            <a:solidFill>
              <a:srgbClr val="E2E9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91840" y="3346704"/>
            <a:ext cx="4786910" cy="182880"/>
          </a:xfrm>
          <a:prstGeom prst="roundRect">
            <a:avLst>
              <a:gd name="adj" fmla="val 25000"/>
            </a:avLst>
          </a:prstGeom>
          <a:solidFill>
            <a:srgbClr val="9BB0BE"/>
          </a:solidFill>
          <a:ln w="12700">
            <a:solidFill>
              <a:srgbClr val="9BB0B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646920" y="32918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69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0,5389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38404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TF-IDF mots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291840" y="3895344"/>
            <a:ext cx="6217920" cy="182880"/>
          </a:xfrm>
          <a:prstGeom prst="roundRect">
            <a:avLst>
              <a:gd name="adj" fmla="val 25000"/>
            </a:avLst>
          </a:prstGeom>
          <a:solidFill>
            <a:srgbClr val="E2E9EF"/>
          </a:solidFill>
          <a:ln w="12700">
            <a:solidFill>
              <a:srgbClr val="E2E9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3895344"/>
            <a:ext cx="5050728" cy="182880"/>
          </a:xfrm>
          <a:prstGeom prst="roundRect">
            <a:avLst>
              <a:gd name="adj" fmla="val 25000"/>
            </a:avLst>
          </a:prstGeom>
          <a:solidFill>
            <a:srgbClr val="9BB0BE"/>
          </a:solidFill>
          <a:ln w="12700">
            <a:solidFill>
              <a:srgbClr val="9BB0B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46920" y="384048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69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0,5686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43891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 linguistiques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291840" y="4443984"/>
            <a:ext cx="6217920" cy="182880"/>
          </a:xfrm>
          <a:prstGeom prst="roundRect">
            <a:avLst>
              <a:gd name="adj" fmla="val 25000"/>
            </a:avLst>
          </a:prstGeom>
          <a:solidFill>
            <a:srgbClr val="E2E9EF"/>
          </a:solidFill>
          <a:ln w="12700">
            <a:solidFill>
              <a:srgbClr val="E2E9E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4443984"/>
            <a:ext cx="5740028" cy="182880"/>
          </a:xfrm>
          <a:prstGeom prst="roundRect">
            <a:avLst>
              <a:gd name="adj" fmla="val 25000"/>
            </a:avLst>
          </a:prstGeom>
          <a:solidFill>
            <a:srgbClr val="9BB0BE"/>
          </a:solidFill>
          <a:ln w="12700">
            <a:solidFill>
              <a:srgbClr val="9BB0B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46920" y="438912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69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0,6462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48640" y="53949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FDF0EA"/>
          </a:solidFill>
          <a:ln w="9525">
            <a:solidFill>
              <a:srgbClr val="F6C9B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5394960"/>
            <a:ext cx="10725912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69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Choix : Hybrid all (Ridge), α = 1   •   MAE CV 0,4881 ± 0,0152   •   R² CV 0,6384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4864" cy="182880"/>
          </a:xfrm>
          <a:prstGeom prst="rect">
            <a:avLst/>
          </a:prstGeom>
          <a:solidFill>
            <a:srgbClr val="EB694C"/>
          </a:solidFill>
          <a:ln w="12700">
            <a:solidFill>
              <a:srgbClr val="EB69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— ÉVALUATION FINALE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MAE test = 0,5108 sur 712 passages jamais vus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1672" cy="0"/>
          </a:xfrm>
          <a:prstGeom prst="line">
            <a:avLst/>
          </a:prstGeom>
          <a:noFill/>
          <a:ln w="9525">
            <a:solidFill>
              <a:srgbClr val="E2E9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0" y="6455664"/>
            <a:ext cx="1399032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/ 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965960"/>
            <a:ext cx="4023360" cy="3383280"/>
          </a:xfrm>
          <a:prstGeom prst="roundRect">
            <a:avLst>
              <a:gd name="adj" fmla="val 4054"/>
            </a:avLst>
          </a:prstGeom>
          <a:solidFill>
            <a:srgbClr val="122A43"/>
          </a:solidFill>
          <a:ln w="12700">
            <a:solidFill>
              <a:srgbClr val="122A4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194560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MODÈLE RIDGE HYBRIDE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06040"/>
            <a:ext cx="347472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0,5108</a:t>
            </a:r>
            <a:endParaRPr lang="en-US" sz="46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7472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4D2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MAE · erreur absolue moyenne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20624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7AE3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R² = 0,6289    ·    RMSE = 0,6405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846320" y="1965960"/>
            <a:ext cx="6793992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9525">
            <a:solidFill>
              <a:srgbClr val="E2E9EF"/>
            </a:solidFill>
            <a:prstDash val="solid"/>
          </a:ln>
          <a:effectLst>
            <a:outerShdw blurRad="76200" dist="25400" dir="5400000" algn="bl" rotWithShape="0">
              <a:srgbClr val="122A43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5120640" y="214884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COMPARAISON À UNE BASELINE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26060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Moyenne (baseline)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589520" y="2660904"/>
            <a:ext cx="2926080" cy="182880"/>
          </a:xfrm>
          <a:prstGeom prst="roundRect">
            <a:avLst>
              <a:gd name="adj" fmla="val 25000"/>
            </a:avLst>
          </a:prstGeom>
          <a:solidFill>
            <a:srgbClr val="E2E9EF"/>
          </a:solidFill>
          <a:ln w="12700">
            <a:solidFill>
              <a:srgbClr val="E2E9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89520" y="2660904"/>
            <a:ext cx="2531644" cy="182880"/>
          </a:xfrm>
          <a:prstGeom prst="roundRect">
            <a:avLst>
              <a:gd name="adj" fmla="val 25000"/>
            </a:avLst>
          </a:prstGeom>
          <a:solidFill>
            <a:srgbClr val="9BB0BE"/>
          </a:solidFill>
          <a:ln w="12700">
            <a:solidFill>
              <a:srgbClr val="9BB0B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652760" y="26060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69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0,8652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120640" y="32461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 hybride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589520" y="3300984"/>
            <a:ext cx="2926080" cy="182880"/>
          </a:xfrm>
          <a:prstGeom prst="roundRect">
            <a:avLst>
              <a:gd name="adj" fmla="val 25000"/>
            </a:avLst>
          </a:prstGeom>
          <a:solidFill>
            <a:srgbClr val="E2E9EF"/>
          </a:solidFill>
          <a:ln w="12700">
            <a:solidFill>
              <a:srgbClr val="E2E9E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9520" y="3300984"/>
            <a:ext cx="1494642" cy="182880"/>
          </a:xfrm>
          <a:prstGeom prst="roundRect">
            <a:avLst>
              <a:gd name="adj" fmla="val 25000"/>
            </a:avLst>
          </a:prstGeom>
          <a:solidFill>
            <a:srgbClr val="EB694C"/>
          </a:solidFill>
          <a:ln w="12700">
            <a:solidFill>
              <a:srgbClr val="EB694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652760" y="324612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69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0,5108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120640" y="4023360"/>
            <a:ext cx="621792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 : prédit la moyenne BT du développement pour tout texte. Le modèle apporte un gain réel.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120640" y="4617720"/>
            <a:ext cx="6217920" cy="502920"/>
          </a:xfrm>
          <a:prstGeom prst="roundRect">
            <a:avLst>
              <a:gd name="adj" fmla="val 14545"/>
            </a:avLst>
          </a:prstGeom>
          <a:solidFill>
            <a:srgbClr val="FDF0EA"/>
          </a:solidFill>
          <a:ln w="9525">
            <a:solidFill>
              <a:srgbClr val="F6C9B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303520" y="4617720"/>
            <a:ext cx="58521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69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≈ 41 % de MAE en moins que la baseline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4864" cy="182880"/>
          </a:xfrm>
          <a:prstGeom prst="rect">
            <a:avLst/>
          </a:prstGeom>
          <a:solidFill>
            <a:srgbClr val="EB694C"/>
          </a:solidFill>
          <a:ln w="12700">
            <a:solidFill>
              <a:srgbClr val="EB69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— DIAGNOSTIC &amp; ANALYSE CRITIQUE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Quelles informations le modèle exploite-t-il 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Analyse sur test : importance par permutation + erreur selon la longueur.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1672" cy="0"/>
          </a:xfrm>
          <a:prstGeom prst="line">
            <a:avLst/>
          </a:prstGeom>
          <a:noFill/>
          <a:ln w="9525">
            <a:solidFill>
              <a:srgbClr val="E2E9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0" y="6455664"/>
            <a:ext cx="1399032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/ 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548640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9EF"/>
            </a:solidFill>
            <a:prstDash val="solid"/>
          </a:ln>
          <a:effectLst>
            <a:outerShdw blurRad="76200" dist="25400" dir="5400000" algn="bl" rotWithShape="0">
              <a:srgbClr val="122A43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77240" y="2057400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PERMUTATION PAR FAMILLE · HAUSSE DE MAE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42316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MiniLM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560320" y="2478024"/>
            <a:ext cx="2103120" cy="182880"/>
          </a:xfrm>
          <a:prstGeom prst="roundRect">
            <a:avLst>
              <a:gd name="adj" fmla="val 25000"/>
            </a:avLst>
          </a:prstGeom>
          <a:solidFill>
            <a:srgbClr val="EB694C"/>
          </a:solidFill>
          <a:ln w="12700">
            <a:solidFill>
              <a:srgbClr val="EB694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754880" y="242316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69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+0,2103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297180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Linguistique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560320" y="3026664"/>
            <a:ext cx="1029059" cy="182880"/>
          </a:xfrm>
          <a:prstGeom prst="roundRect">
            <a:avLst>
              <a:gd name="adj" fmla="val 25000"/>
            </a:avLst>
          </a:prstGeom>
          <a:solidFill>
            <a:srgbClr val="058E89"/>
          </a:solidFill>
          <a:ln w="12700">
            <a:solidFill>
              <a:srgbClr val="058E8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54880" y="297180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+0,1029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352044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TF-IDF caractères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560320" y="3575304"/>
            <a:ext cx="622035" cy="182880"/>
          </a:xfrm>
          <a:prstGeom prst="roundRect">
            <a:avLst>
              <a:gd name="adj" fmla="val 25000"/>
            </a:avLst>
          </a:prstGeom>
          <a:solidFill>
            <a:srgbClr val="7B6BB0"/>
          </a:solidFill>
          <a:ln w="12700">
            <a:solidFill>
              <a:srgbClr val="7B6BB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754880" y="352044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B6B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+0,0622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0690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TF-IDF mots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60320" y="4123944"/>
            <a:ext cx="204012" cy="182880"/>
          </a:xfrm>
          <a:prstGeom prst="roundRect">
            <a:avLst>
              <a:gd name="adj" fmla="val 25000"/>
            </a:avLst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54880" y="406908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A4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+0,0204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309360" y="1920240"/>
            <a:ext cx="5330952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9EF"/>
            </a:solidFill>
            <a:prstDash val="solid"/>
          </a:ln>
          <a:effectLst>
            <a:outerShdw blurRad="76200" dist="25400" dir="5400000" algn="bl" rotWithShape="0">
              <a:srgbClr val="122A43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537960" y="205740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MAE PAR LONGUEUR DES TEXTES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24688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Courts ≤ 166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321040" y="2523744"/>
            <a:ext cx="1661302" cy="182880"/>
          </a:xfrm>
          <a:prstGeom prst="roundRect">
            <a:avLst>
              <a:gd name="adj" fmla="val 25000"/>
            </a:avLst>
          </a:prstGeom>
          <a:solidFill>
            <a:srgbClr val="058E89"/>
          </a:solidFill>
          <a:ln w="12700">
            <a:solidFill>
              <a:srgbClr val="058E8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287000" y="246888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69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0,486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537960" y="310896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Moyens 167–184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321040" y="3163824"/>
            <a:ext cx="1750179" cy="182880"/>
          </a:xfrm>
          <a:prstGeom prst="roundRect">
            <a:avLst>
              <a:gd name="adj" fmla="val 25000"/>
            </a:avLst>
          </a:prstGeom>
          <a:solidFill>
            <a:srgbClr val="058E89"/>
          </a:solidFill>
          <a:ln w="12700">
            <a:solidFill>
              <a:srgbClr val="058E8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287000" y="310896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69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0,512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37960" y="374904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Longs ≥ 185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321040" y="3803904"/>
            <a:ext cx="1828800" cy="182880"/>
          </a:xfrm>
          <a:prstGeom prst="roundRect">
            <a:avLst>
              <a:gd name="adj" fmla="val 25000"/>
            </a:avLst>
          </a:prstGeom>
          <a:solidFill>
            <a:srgbClr val="058E89"/>
          </a:solidFill>
          <a:ln w="12700">
            <a:solidFill>
              <a:srgbClr val="058E89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287000" y="37490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69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0,535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8640" y="5577840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FDF0EA"/>
          </a:solidFill>
          <a:ln w="9525">
            <a:solidFill>
              <a:srgbClr val="F6C9B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1520" y="5577840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69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Enjeu : un bon score moyen ne garantit pas la même précision selon les formats de texte.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4864" cy="182880"/>
          </a:xfrm>
          <a:prstGeom prst="rect">
            <a:avLst/>
          </a:prstGeom>
          <a:solidFill>
            <a:srgbClr val="EB694C"/>
          </a:solidFill>
          <a:ln w="12700">
            <a:solidFill>
              <a:srgbClr val="EB69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— DIAGNOSTIC &amp; ANALYSE CRITIQUE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Quels traits linguistiques comptent vraiment 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Importance par permutation sur le test · hausse de MAE quand un trait est mélangé.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1672" cy="0"/>
          </a:xfrm>
          <a:prstGeom prst="line">
            <a:avLst/>
          </a:prstGeom>
          <a:noFill/>
          <a:ln w="9525">
            <a:solidFill>
              <a:srgbClr val="E2E9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0" y="6455664"/>
            <a:ext cx="1399032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/ 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685800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9525">
            <a:solidFill>
              <a:srgbClr val="E2E9EF"/>
            </a:solidFill>
            <a:prstDash val="solid"/>
          </a:ln>
          <a:effectLst>
            <a:outerShdw blurRad="76200" dist="25400" dir="5400000" algn="bl" rotWithShape="0">
              <a:srgbClr val="122A43">
                <a:alpha val="12000"/>
              </a:srgbClr>
            </a:outerShdw>
          </a:effectLst>
        </p:spPr>
      </p:sp>
      <p:graphicFrame>
        <p:nvGraphicFramePr>
          <p:cNvPr id="10" name="Chart 0"/>
          <p:cNvGraphicFramePr/>
          <p:nvPr/>
        </p:nvGraphicFramePr>
        <p:xfrm>
          <a:off x="640080" y="2011680"/>
          <a:ext cx="667512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7680960" y="1920240"/>
            <a:ext cx="3959352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2E9EF"/>
            </a:solidFill>
            <a:prstDash val="solid"/>
          </a:ln>
          <a:effectLst>
            <a:outerShdw blurRad="76200" dist="25400" dir="5400000" algn="bl" rotWithShape="0">
              <a:srgbClr val="122A43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72400" y="1920240"/>
            <a:ext cx="3776472" cy="64008"/>
          </a:xfrm>
          <a:prstGeom prst="rect">
            <a:avLst/>
          </a:prstGeom>
          <a:solidFill>
            <a:srgbClr val="058E89"/>
          </a:solidFill>
          <a:ln w="12700">
            <a:solidFill>
              <a:srgbClr val="058E8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63840" y="210312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TROIS TRAITS DE SURFACE DOMINENT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2377440"/>
            <a:ext cx="361188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syllables_per_word (+0,0614), Flesch-Kincaid (+0,0400) et Flesch reading ease (+0,0218) portent l’essentiel du signal linguistique.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680960" y="3337560"/>
            <a:ext cx="3959352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2E9EF"/>
            </a:solidFill>
            <a:prstDash val="solid"/>
          </a:ln>
          <a:effectLst>
            <a:outerShdw blurRad="76200" dist="25400" dir="5400000" algn="bl" rotWithShape="0">
              <a:srgbClr val="122A43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772400" y="3337560"/>
            <a:ext cx="3776472" cy="64008"/>
          </a:xfrm>
          <a:prstGeom prst="rect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863840" y="352044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COHÉSION LEXICALE N’APPORTE RIEN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3794760"/>
            <a:ext cx="361188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lexical_cohesion ≈ +0,0001 :</a:t>
            </a:r>
            <a:r>
              <a:rPr lang="en-US" altLang="en-US" sz="11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sa permutation individuelle influence tr</a:t>
            </a:r>
            <a:r>
              <a:rPr lang="" altLang="en-US" sz="11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è</a:t>
            </a:r>
            <a:r>
              <a:rPr lang="en-US" altLang="en-US" sz="11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peu la MAE du mod</a:t>
            </a:r>
            <a:r>
              <a:rPr lang="" altLang="en-US" sz="11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è</a:t>
            </a:r>
            <a:r>
              <a:rPr lang="en-US" altLang="en-US" sz="11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le. Elle reste toutefois utile pour mesurer le chevauchement lexical entre les phrases.</a:t>
            </a:r>
            <a:endParaRPr lang="en-US" altLang="en-US" sz="1100" dirty="0">
              <a:solidFill>
                <a:srgbClr val="667A8C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680960" y="4754880"/>
            <a:ext cx="3959352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2E9EF"/>
            </a:solidFill>
            <a:prstDash val="solid"/>
          </a:ln>
          <a:effectLst>
            <a:outerShdw blurRad="76200" dist="25400" dir="5400000" algn="bl" rotWithShape="0">
              <a:srgbClr val="122A43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7772400" y="4754880"/>
            <a:ext cx="3776472" cy="64008"/>
          </a:xfrm>
          <a:prstGeom prst="rect">
            <a:avLst/>
          </a:prstGeom>
          <a:solidFill>
            <a:srgbClr val="EB694C"/>
          </a:solidFill>
          <a:ln w="12700">
            <a:solidFill>
              <a:srgbClr val="EB694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863840" y="493776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VALEURS ≈ 0 OU NÉGATIVES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5212080"/>
            <a:ext cx="361188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sentence_count et avg_sentence_length </a:t>
            </a:r>
            <a:r>
              <a:rPr lang="en-US" altLang="en-US" sz="11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présentent une faible importance individuelle. Cela peut s'expliquer par une redondance avec d'autres caractéristiques</a:t>
            </a:r>
            <a:r>
              <a:rPr lang="fr-FR" altLang="en-US" sz="11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fr-FR" altLang="en-US" sz="1100" dirty="0">
              <a:solidFill>
                <a:srgbClr val="667A8C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4864" cy="182880"/>
          </a:xfrm>
          <a:prstGeom prst="rect">
            <a:avLst/>
          </a:prstGeom>
          <a:solidFill>
            <a:srgbClr val="EB694C"/>
          </a:solidFill>
          <a:ln w="12700">
            <a:solidFill>
              <a:srgbClr val="EB69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r>
              <a:rPr lang="fr-FR" altLang="en-US" sz="1100" b="1" kern="0" spc="100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r>
              <a:rPr lang="en-US" sz="1100" b="1" kern="0" spc="100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— NOUVEAUTÉ DU CODE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Cohésion lexicale et cohésion sémantique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Deux indicateurs calculés entre phrases voisines, puis moyennés et affichés séparément dans l’application.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6400800"/>
            <a:ext cx="11091672" cy="0"/>
          </a:xfrm>
          <a:prstGeom prst="line">
            <a:avLst/>
          </a:prstGeom>
          <a:noFill/>
          <a:ln w="9525">
            <a:solidFill>
              <a:srgbClr val="E2E9E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0" y="6455664"/>
            <a:ext cx="1399032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r>
              <a:rPr lang="fr-FR" altLang="en-US" sz="9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r>
              <a:rPr lang="en-US" sz="9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/ 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920240"/>
            <a:ext cx="5468112" cy="361188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E2E9EF"/>
            </a:solidFill>
            <a:prstDash val="solid"/>
          </a:ln>
          <a:effectLst>
            <a:outerShdw blurRad="76200" dist="25400" dir="5400000" algn="bl" rotWithShape="0">
              <a:srgbClr val="122A43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1920240"/>
            <a:ext cx="5285232" cy="64008"/>
          </a:xfrm>
          <a:prstGeom prst="rect">
            <a:avLst/>
          </a:prstGeom>
          <a:solidFill>
            <a:srgbClr val="058E89"/>
          </a:solidFill>
          <a:ln w="12700">
            <a:solidFill>
              <a:srgbClr val="058E8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103120"/>
            <a:ext cx="493776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COHÉSION LEXICALE · MOTS COMMUNS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237744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Chevauchement des mots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2880360"/>
            <a:ext cx="11430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PRINCIPE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920240" y="2880360"/>
            <a:ext cx="3931920" cy="502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Deux phrases voisines partagent-elles les mêmes mots de contenu ?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3447288"/>
            <a:ext cx="11430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CALCUL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920240" y="3447288"/>
            <a:ext cx="3931920" cy="502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Mots de plus de 2 lettres, hors mots vides ; Jaccard par paire, puis moyenne.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014216"/>
            <a:ext cx="11430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LIMITE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920240" y="4014216"/>
            <a:ext cx="3931920" cy="502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 voit pas les synonymes ni les reformulations.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77240" y="4846320"/>
            <a:ext cx="3246120" cy="457200"/>
          </a:xfrm>
          <a:prstGeom prst="roundRect">
            <a:avLst>
              <a:gd name="adj" fmla="val 12000"/>
            </a:avLst>
          </a:prstGeom>
          <a:solidFill>
            <a:srgbClr val="F6F8FA"/>
          </a:solidFill>
          <a:ln w="12700">
            <a:solidFill>
              <a:srgbClr val="E2E9E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846320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 = |A ∩ B| / |A ∪ B|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160520" y="484632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Échelle : 0 à 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72200" y="1920240"/>
            <a:ext cx="5468112" cy="361188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E2E9EF"/>
            </a:solidFill>
            <a:prstDash val="solid"/>
          </a:ln>
          <a:effectLst>
            <a:outerShdw blurRad="76200" dist="25400" dir="5400000" algn="bl" rotWithShape="0">
              <a:srgbClr val="122A43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63640" y="1920240"/>
            <a:ext cx="5285232" cy="64008"/>
          </a:xfrm>
          <a:prstGeom prst="rect">
            <a:avLst/>
          </a:prstGeom>
          <a:solidFill>
            <a:srgbClr val="EB694C"/>
          </a:solidFill>
          <a:ln w="12700">
            <a:solidFill>
              <a:srgbClr val="EB694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0" y="2103120"/>
            <a:ext cx="493776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COHÉSION SÉMANTIQUE · SENS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0" y="237744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EB69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Proximité de sens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0" y="2880360"/>
            <a:ext cx="11430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PRINCIPE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543800" y="2880360"/>
            <a:ext cx="3931920" cy="502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Deux phrases voisines parlent-elles de la même chose ?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0" y="3447288"/>
            <a:ext cx="11430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CALCUL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543800" y="3447288"/>
            <a:ext cx="3931920" cy="502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Embedding MiniLM de chaque phrase, cosinus par paire, puis moyenne.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400800" y="4014216"/>
            <a:ext cx="11430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LIMITE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543800" y="4014216"/>
            <a:ext cx="3931920" cy="502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Mesure la proximité de sujet, pas la logique du discours.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400800" y="4846320"/>
            <a:ext cx="3246120" cy="457200"/>
          </a:xfrm>
          <a:prstGeom prst="roundRect">
            <a:avLst>
              <a:gd name="adj" fmla="val 12000"/>
            </a:avLst>
          </a:prstGeom>
          <a:solidFill>
            <a:srgbClr val="F6F8FA"/>
          </a:solidFill>
          <a:ln w="12700">
            <a:solidFill>
              <a:srgbClr val="E2E9E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00800" y="4846320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B69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cos(u, v) = u · v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9784080" y="484632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Échelle : −1 à 1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4864" cy="182880"/>
          </a:xfrm>
          <a:prstGeom prst="rect">
            <a:avLst/>
          </a:prstGeom>
          <a:solidFill>
            <a:srgbClr val="EB694C"/>
          </a:solidFill>
          <a:ln w="12700">
            <a:solidFill>
              <a:srgbClr val="EB69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r>
              <a:rPr lang="fr-FR" altLang="en-US" sz="1100" b="1" kern="0" spc="100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</a:t>
            </a:r>
            <a:r>
              <a:rPr lang="en-US" sz="1100" b="1" kern="0" spc="100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— LIMITES DU PROJET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 que le modèle ne garantit pas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Quatre limites à garder en tête avant d’interpréter un score.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1672" cy="0"/>
          </a:xfrm>
          <a:prstGeom prst="line">
            <a:avLst/>
          </a:prstGeom>
          <a:noFill/>
          <a:ln w="9525">
            <a:solidFill>
              <a:srgbClr val="E2E9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0" y="6455664"/>
            <a:ext cx="1399032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r>
              <a:rPr lang="fr-FR" altLang="en-US" sz="9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r>
              <a:rPr lang="en-US" sz="9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/ 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5468112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9EF"/>
            </a:solidFill>
            <a:prstDash val="solid"/>
          </a:ln>
          <a:effectLst>
            <a:outerShdw blurRad="76200" dist="25400" dir="5400000" algn="bl" rotWithShape="0">
              <a:srgbClr val="122A43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920240"/>
            <a:ext cx="5285232" cy="64008"/>
          </a:xfrm>
          <a:prstGeom prst="rect">
            <a:avLst/>
          </a:prstGeom>
          <a:solidFill>
            <a:srgbClr val="EB694C"/>
          </a:solidFill>
          <a:ln w="12700">
            <a:solidFill>
              <a:srgbClr val="EB694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1488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B69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121408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Textes très courts ou très longs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2560320"/>
            <a:ext cx="5029200" cy="1051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CLEAR contient surtout des passages de 113 à 215 mots. Hors de cette plage, le score BT est moins fiable ; l’erreur monte déjà avec la longueur (MAE 0,486 → 0,535).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72200" y="1920240"/>
            <a:ext cx="5468112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9EF"/>
            </a:solidFill>
            <a:prstDash val="solid"/>
          </a:ln>
          <a:effectLst>
            <a:outerShdw blurRad="76200" dist="25400" dir="5400000" algn="bl" rotWithShape="0">
              <a:srgbClr val="122A4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63640" y="1920240"/>
            <a:ext cx="5285232" cy="64008"/>
          </a:xfrm>
          <a:prstGeom prst="rect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0" y="21488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D9A4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2121408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Cohésion lexicale peu fiable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2560320"/>
            <a:ext cx="5029200" cy="1051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 Jaccard ne compte que les mots communs : 0,020 sur l’exemple, contre 0,430 en cosinus. Son importance par permutation est quasi nulle.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840480"/>
            <a:ext cx="5468112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9EF"/>
            </a:solidFill>
            <a:prstDash val="solid"/>
          </a:ln>
          <a:effectLst>
            <a:outerShdw blurRad="76200" dist="25400" dir="5400000" algn="bl" rotWithShape="0">
              <a:srgbClr val="122A43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3840480"/>
            <a:ext cx="5285232" cy="64008"/>
          </a:xfrm>
          <a:prstGeom prst="rect">
            <a:avLst/>
          </a:prstGeom>
          <a:solidFill>
            <a:srgbClr val="7B6BB0"/>
          </a:solidFill>
          <a:ln w="12700">
            <a:solidFill>
              <a:srgbClr val="7B6BB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069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7B6B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4041648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Anglais uniquement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480560"/>
            <a:ext cx="5029200" cy="1051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Corpus CLEAR, règles de syllabes / Flesch et encodeur MiniLM sont conçus pour l’anglais. Aucun test sur d’autres langues.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172200" y="3840480"/>
            <a:ext cx="5468112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9EF"/>
            </a:solidFill>
            <a:prstDash val="solid"/>
          </a:ln>
          <a:effectLst>
            <a:outerShdw blurRad="76200" dist="25400" dir="5400000" algn="bl" rotWithShape="0">
              <a:srgbClr val="122A43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63640" y="3840480"/>
            <a:ext cx="5285232" cy="64008"/>
          </a:xfrm>
          <a:prstGeom prst="rect">
            <a:avLst/>
          </a:prstGeom>
          <a:solidFill>
            <a:srgbClr val="058E89"/>
          </a:solidFill>
          <a:ln w="12700">
            <a:solidFill>
              <a:srgbClr val="058E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0" y="4069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858000" y="4041648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 de cohérence logique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0" y="4480560"/>
            <a:ext cx="5029200" cy="1051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 cosinus mesure une proximité de sujet, pas une argumentation : contradictions et enchaînement logique ne sont pas détectés.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806440"/>
            <a:ext cx="11091672" cy="457200"/>
          </a:xfrm>
          <a:prstGeom prst="roundRect">
            <a:avLst>
              <a:gd name="adj" fmla="val 16000"/>
            </a:avLst>
          </a:prstGeom>
          <a:solidFill>
            <a:srgbClr val="FDF0EA"/>
          </a:solidFill>
          <a:ln w="9525">
            <a:solidFill>
              <a:srgbClr val="F6C9B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1520" y="5806440"/>
            <a:ext cx="1072591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69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score affiché est une estimation, pas une mesure certifiée de lisibilité ou de cohérence.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9100" y="176530"/>
            <a:ext cx="76200" cy="274320"/>
          </a:xfrm>
          <a:prstGeom prst="rect">
            <a:avLst/>
          </a:prstGeom>
          <a:solidFill>
            <a:srgbClr val="EB694C"/>
          </a:solidFill>
          <a:ln w="12700">
            <a:solidFill>
              <a:srgbClr val="EB69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7653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r>
              <a:rPr lang="fr-FR" altLang="en-US" sz="1100" b="1" kern="0" spc="100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 </a:t>
            </a:r>
            <a:r>
              <a:rPr lang="en-US" sz="1100" b="1" kern="0" spc="100" dirty="0">
                <a:solidFill>
                  <a:srgbClr val="058E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— APPLICATION STREAMLIT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241280" y="6455664"/>
            <a:ext cx="1399032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r>
              <a:rPr lang="fr-FR" altLang="en-US" sz="9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r>
              <a:rPr lang="en-US" sz="900" dirty="0">
                <a:solidFill>
                  <a:srgbClr val="66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/ 15</a:t>
            </a:r>
            <a:endParaRPr lang="en-US" sz="900" dirty="0"/>
          </a:p>
        </p:txBody>
      </p:sp>
      <p:pic>
        <p:nvPicPr>
          <p:cNvPr id="37" name="Picture 3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38810"/>
            <a:ext cx="12192000" cy="58172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19"/>
          <p:cNvSpPr txBox="1"/>
          <p:nvPr/>
        </p:nvSpPr>
        <p:spPr>
          <a:xfrm>
            <a:off x="4930140" y="3246120"/>
            <a:ext cx="4399915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B69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</a:t>
            </a:r>
            <a:r>
              <a:rPr lang="fr-FR" altLang="en-US" sz="1600" b="1" dirty="0">
                <a:solidFill>
                  <a:srgbClr val="EB69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erci Pour votre Attention!</a:t>
            </a:r>
            <a:endParaRPr lang="fr-FR" altLang="en-US" sz="1600" b="1" dirty="0">
              <a:solidFill>
                <a:srgbClr val="EB694C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5833</Words>
  <Application>WPS Presentation</Application>
  <PresentationFormat>On-screen Show (16:9)</PresentationFormat>
  <Paragraphs>389</Paragraphs>
  <Slides>14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9" baseType="lpstr">
      <vt:lpstr>Arial</vt:lpstr>
      <vt:lpstr>SimSun</vt:lpstr>
      <vt:lpstr>Wingdings</vt:lpstr>
      <vt:lpstr>Aptos</vt:lpstr>
      <vt:lpstr>Segoe UI</vt:lpstr>
      <vt:lpstr>Aptos</vt:lpstr>
      <vt:lpstr>Aptos</vt:lpstr>
      <vt:lpstr>Aptos</vt:lpstr>
      <vt:lpstr>Calibri</vt:lpstr>
      <vt:lpstr>Microsoft YaHei</vt:lpstr>
      <vt:lpstr>Arial Unicode MS</vt:lpstr>
      <vt:lpstr>MS PGothic</vt:lpstr>
      <vt:lpstr>Arial Unicode MS</vt:lpstr>
      <vt:lpstr>Times New Roman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Lisibilité des textes &amp; continuité sémantique</dc:title>
  <dc:creator>PptxGenJS</dc:creator>
  <dc:subject>PptxGenJS Presentation</dc:subject>
  <cp:lastModifiedBy>WPS_1776886495</cp:lastModifiedBy>
  <cp:revision>16</cp:revision>
  <dcterms:created xsi:type="dcterms:W3CDTF">2026-10-26T09:36:00Z</dcterms:created>
  <dcterms:modified xsi:type="dcterms:W3CDTF">2026-10-27T23:42:53Z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C9F2609AF1BC499996D77F06B1632A4B_12</vt:lpwstr>
  </property>
  <property fmtid="{D5CDD505-2E9C-101B-9397-08002B2CF9AE}" pid="3" name="KSOProductBuildVer">
    <vt:lpwstr>1033-12.1.0.29162</vt:lpwstr>
  </property>
</Properties>
</file>