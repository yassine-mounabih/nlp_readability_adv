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66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Hausse de MAE</c:v>
                </c:pt>
              </c:strCache>
            </c:strRef>
          </c:tx>
          <c:spPr>
            <a:solidFill>
              <a:srgbClr val="058E8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58E8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B694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B694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B694C"/>
              </a:solidFill>
              <a:effectLst/>
            </c:spPr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22A43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Sheet1!$A$2:$A$14</c:f>
              <c:strCache>
                <c:ptCount val="13"/>
                <c:pt idx="0">
                  <c:v>syllables_per_word</c:v>
                </c:pt>
                <c:pt idx="1">
                  <c:v>flesch_kincaid_grade</c:v>
                </c:pt>
                <c:pt idx="2">
                  <c:v>flesch_reading_ease</c:v>
                </c:pt>
                <c:pt idx="3">
                  <c:v>word_count</c:v>
                </c:pt>
                <c:pt idx="4">
                  <c:v>sentence_length_std</c:v>
                </c:pt>
                <c:pt idx="5">
                  <c:v>long_word_ratio</c:v>
                </c:pt>
                <c:pt idx="6">
                  <c:v>avg_word_length</c:v>
                </c:pt>
                <c:pt idx="7">
                  <c:v>lexical_cohesion</c:v>
                </c:pt>
                <c:pt idx="8">
                  <c:v>lexical_diversity</c:v>
                </c:pt>
                <c:pt idx="9">
                  <c:v>connector_ratio</c:v>
                </c:pt>
                <c:pt idx="10">
                  <c:v>polysyllabic_ratio</c:v>
                </c:pt>
                <c:pt idx="11">
                  <c:v>avg_sentence_length</c:v>
                </c:pt>
                <c:pt idx="12">
                  <c:v>sentence_count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0.0614</c:v>
                </c:pt>
                <c:pt idx="1">
                  <c:v>0.04</c:v>
                </c:pt>
                <c:pt idx="2">
                  <c:v>0.0218</c:v>
                </c:pt>
                <c:pt idx="3">
                  <c:v>0.0096</c:v>
                </c:pt>
                <c:pt idx="4">
                  <c:v>0.0045</c:v>
                </c:pt>
                <c:pt idx="5">
                  <c:v>0.001</c:v>
                </c:pt>
                <c:pt idx="6">
                  <c:v>0.0006</c:v>
                </c:pt>
                <c:pt idx="7">
                  <c:v>0.0001</c:v>
                </c:pt>
                <c:pt idx="8">
                  <c:v>0</c:v>
                </c:pt>
                <c:pt idx="9">
                  <c:v>0</c:v>
                </c:pt>
                <c:pt idx="10">
                  <c:v>-0.0001</c:v>
                </c:pt>
                <c:pt idx="11">
                  <c:v>-0.0006</c:v>
                </c:pt>
                <c:pt idx="12">
                  <c:v>-0.0008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122A43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7"/>
          <c:min val="-0.02"/>
        </c:scaling>
        <c:delete val="0"/>
        <c:axPos val="t"/>
        <c:majorGridlines>
          <c:spPr>
            <a:ln w="6350" cap="flat" cmpd="sng" algn="ctr">
              <a:solidFill>
                <a:srgbClr val="E2E9EF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667A8C"/>
                    </a:solidFill>
                    <a:latin typeface="Aptos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667A8C"/>
                    </a:solidFill>
                    <a:latin typeface="Aptos"/>
                  </a:rPr>
                  <a:t>Hausse de MAE après permutation</a:t>
                </a:r>
                <a:endParaRPr sz="1000" b="0" i="0" u="none" strike="noStrike">
                  <a:solidFill>
                    <a:srgbClr val="667A8C"/>
                  </a:solidFill>
                  <a:latin typeface="Aptos"/>
                </a:endParaRP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67A8C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bd2611d-b669-4080-924e-c410c644466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fld id="{B5157346-73C3-47B6-9B84-A6B21D104D77}" type="slidenum">
              <a:rPr lang="fr-FR" altLang="fr-FR"/>
            </a:fld>
            <a:endParaRPr lang="fr-FR" altLang="fr-F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00:30. Poser la problématique : peut-on prédire la facilité de lecture d'un passage anglais (BT_easiness) et mesurer la continuité entre phrases ? Besoin : les formules classiques ne voient que la surface. Approche : régression supervisée avec trois familles de représentations. Objectif : modèle sans fuite + application Streamlit. Annoncer que l'on discutera aussi les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00:25. Source CLEAR Corpus ; 4724 passages bruts, 4723 après nettoyage. Cible BT_easiness issue d'annotations humaines ; l'échelle peut être négative. Métadonnées auteur+titre pour le split groupé, jamais comme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00:35. Retrait des champs incomplets et des doublons normalisés, sans supprimer ponctuation ni mots vides. Les 13 variables : longueur des phrases, mots longs, syllabes, diversité lexicale, connecteurs, Jaccard, Flesch, Flesch-Kincaid. Segmentation heuristique, sensible aux abréviations.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00:35. Approches comparées : 30k TF-IDF mots, 30k caractères, 13 features, 384 dimensions MiniLM (all-MiniLM-L6-v2, non entraîné sur CLEAR). Vecteur hybride 60 397 valeurs. Justifier : le TF-IDF capte le lexique, les embeddings le sens, les traits sont interprétables.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00:35. GroupShuffleSplit regroupe les passages d'un même couple auteur/titre. Train 3309, validation 702, test 712. GroupKFold 5 plis sur le développement ; vectoriseurs et scaler ajustés sur chaque train de pli. Réentraînement final sur train+validation = 4011.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00:35. Cinq représentations comparées avec Ridge régularisé (Random Forest réservé aux 13 traits). Ridge adapté à la très haute dimension. Choix sur la MAE de validation croisée uniquement, jamais sur le test. Tout est sauvegardé dans un artefact joblib réutilisé par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00:45. Résultat test : MAE 0,5108, RMSE 0,6405, R² 0,6289. Baseline : MAE 0,8652, R² ≈ 0. Amélioration d'environ 41 %. Le test n'a servi qu'une fois.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00:45. Permutation par groupes : MiniLM +0,2103, linguistique +0,1029, TF-IDF caractères +0,0622, TF-IDF mots +0,0204. L'erreur croît avec la longueur (0,486 → 0,535). Limites : un seul split test, catégories relatives (tertiles) et non niveaux scolaires, MiniLM non conçu pour la lisibilité.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00:40. Importance par permutation des 13 traits sur le test (MAE de base 0,5108). syllables_per_word +0,0614, flesch_kincaid_grade +0,0400, flesch_reading_ease +0,0218, word_count +0,0096. lexical_cohesion +0,0001 : inutile pour la prédiction, cohérent avec la limite sur la cohésion lexicale. Valeurs négatives : bruit. Ce sont des dépendances du modèle, pas des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00:30. Présenter les deux indicateurs et pourquoi ils sont séparés. Cohésion lexicale : Jaccard des mots de contenu (plus de 2 lettres, sans mots vides) entre phrases voisines, moyenné ; elle rate synonymes et reformulations. Cohésion sémantique : cosinus entre embeddings MiniLM normalisés de phrases voisines, moyenné ; elle capte la proximité de sens mais pas la logique. Ils peuvent diverger : un texte peut rester sur le même sujet sans répéter les mêmes mots. Ni l'un ni l'autre ne valide la cohérence logique.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00:30. Quatre limites : 1) textes très courts ou très longs, moins fiables car hors distribution CLEAR (113 à 215 mots) ; 2) cohésion lexicale (Jaccard) peu fiable, importance quasi nulle dans le modèle ; 3) anglais uniquement ; 4) aucune mesure de cohérence logique, la similarité cosinus ne détecte pas les contradictions. Piste : validation externe et NLI.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00:45 (démo ~0,5 min). Lancer l'application : coller un passage, choisir le mode, cliquer Analyze. Résultat illustratif réel du notebook : BT 0,077, 83 mots, 6 phrases, cosinus 0,43, Jaccard 0,0202. Montrer le tableau et la courbe des similarités, puis les conseils heuristiques et l'avertissement pour texte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00:25. Résumer : Ridge hybride meilleur sur CLEAR, MAE test 0,5108 ; traitement des longues saisies sans garantie de calibration ; continuité sémantique exploratoire, pas logique. Perspectives : validation externe, annotations humaines, NLI pour les contradictions. Merci.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2"/>
          <p:cNvSpPr>
            <a:spLocks noChangeArrowheads="1"/>
          </p:cNvSpPr>
          <p:nvPr userDrawn="1"/>
        </p:nvSpPr>
        <p:spPr bwMode="auto">
          <a:xfrm>
            <a:off x="1773768" y="2781300"/>
            <a:ext cx="8691033" cy="1800225"/>
          </a:xfrm>
          <a:prstGeom prst="flowChartAlternateProcess">
            <a:avLst/>
          </a:prstGeom>
          <a:noFill/>
          <a:ln w="9525">
            <a:solidFill>
              <a:schemeClr val="bg2"/>
            </a:solidFill>
            <a:miter lim="800000"/>
          </a:ln>
          <a:effectLst>
            <a:prstShdw prst="shdw17" dist="17961" dir="13500000">
              <a:srgbClr val="6C89DA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pic>
        <p:nvPicPr>
          <p:cNvPr id="3" name="Picture 5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1" y="2420939"/>
            <a:ext cx="307128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3"/>
          <p:cNvSpPr>
            <a:spLocks noChangeArrowheads="1"/>
          </p:cNvSpPr>
          <p:nvPr userDrawn="1"/>
        </p:nvSpPr>
        <p:spPr bwMode="auto">
          <a:xfrm>
            <a:off x="0" y="165100"/>
            <a:ext cx="12192000" cy="717551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C1D6FF"/>
              </a:gs>
              <a:gs pos="100000">
                <a:srgbClr val="FFFF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defRPr/>
            </a:pPr>
            <a:endParaRPr lang="fr-FR" altLang="fr-FR"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25413"/>
            <a:ext cx="1399117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7" descr="tri_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600" y="92075"/>
            <a:ext cx="1117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3"/>
          <p:cNvSpPr>
            <a:spLocks noChangeArrowheads="1"/>
          </p:cNvSpPr>
          <p:nvPr userDrawn="1"/>
        </p:nvSpPr>
        <p:spPr bwMode="auto">
          <a:xfrm>
            <a:off x="3126319" y="152400"/>
            <a:ext cx="5922433" cy="700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4457700" algn="r"/>
              </a:tabLst>
              <a:defRPr/>
            </a:pPr>
            <a:r>
              <a:rPr lang="fr-FR" sz="1000" dirty="0">
                <a:solidFill>
                  <a:srgbClr val="1321A1"/>
                </a:solidFill>
                <a:latin typeface="Arial Unicode MS" pitchFamily="34" charset="-128"/>
                <a:ea typeface="Times New Roman" panose="02020603050405020304" pitchFamily="18" charset="0"/>
                <a:cs typeface="Arial Unicode MS" pitchFamily="34" charset="-128"/>
              </a:rPr>
              <a:t>Ecole Nationale des Sciences Appliquées d’El Jadida </a:t>
            </a:r>
            <a:endParaRPr lang="fr-FR" sz="1000" dirty="0">
              <a:solidFill>
                <a:srgbClr val="1321A1"/>
              </a:solidFill>
              <a:latin typeface="Arial Unicode MS" pitchFamily="34" charset="-128"/>
              <a:ea typeface="Times New Roman" panose="02020603050405020304" pitchFamily="18" charset="0"/>
              <a:cs typeface="Arial Unicode MS" pitchFamily="34" charset="-128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4457700" algn="r"/>
              </a:tabLst>
              <a:defRPr/>
            </a:pPr>
            <a:r>
              <a:rPr lang="fr-FR" sz="1000" dirty="0">
                <a:solidFill>
                  <a:srgbClr val="1321A1"/>
                </a:solidFill>
                <a:latin typeface="Arial Unicode MS" pitchFamily="34" charset="-128"/>
                <a:ea typeface="Times New Roman" panose="02020603050405020304" pitchFamily="18" charset="0"/>
                <a:cs typeface="Arial Unicode MS" pitchFamily="34" charset="-128"/>
              </a:rPr>
              <a:t>Département  Télécommunications, Réseaux et Informatique</a:t>
            </a:r>
            <a:endParaRPr lang="fr-FR" sz="1000" dirty="0">
              <a:solidFill>
                <a:srgbClr val="1321A1"/>
              </a:solidFill>
              <a:latin typeface="Arial Unicode MS" pitchFamily="34" charset="-128"/>
              <a:ea typeface="Times New Roman" panose="02020603050405020304" pitchFamily="18" charset="0"/>
              <a:cs typeface="Arial Unicode MS" pitchFamily="34" charset="-128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4457700" algn="r"/>
              </a:tabLst>
              <a:defRPr/>
            </a:pPr>
            <a:r>
              <a:rPr lang="fr-FR" sz="1000" dirty="0">
                <a:solidFill>
                  <a:srgbClr val="1321A1"/>
                </a:solidFill>
                <a:latin typeface="Arial Unicode MS" pitchFamily="34" charset="-128"/>
                <a:ea typeface="Times New Roman" panose="02020603050405020304" pitchFamily="18" charset="0"/>
                <a:cs typeface="Arial Unicode MS" pitchFamily="34" charset="-128"/>
              </a:rPr>
              <a:t>Projets de fin d’année</a:t>
            </a:r>
            <a:endParaRPr lang="fr-FR" sz="1000" dirty="0">
              <a:solidFill>
                <a:srgbClr val="1321A1"/>
              </a:solidFill>
              <a:latin typeface="Arial Unicode MS" pitchFamily="34" charset="-128"/>
              <a:ea typeface="Times New Roman" panose="02020603050405020304" pitchFamily="18" charset="0"/>
              <a:cs typeface="Arial Unicode MS" pitchFamily="34" charset="-128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4457700" algn="r"/>
              </a:tabLst>
              <a:defRPr/>
            </a:pPr>
            <a:r>
              <a:rPr lang="fr-FR" sz="1055" dirty="0">
                <a:solidFill>
                  <a:srgbClr val="1321A1"/>
                </a:solidFill>
                <a:latin typeface="Arial Unicode MS" pitchFamily="34" charset="-128"/>
                <a:ea typeface="Times New Roman" panose="02020603050405020304" pitchFamily="18" charset="0"/>
                <a:cs typeface="Arial Unicode MS" pitchFamily="34" charset="-128"/>
              </a:rPr>
              <a:t>Année universitaire : 20…-20…</a:t>
            </a:r>
            <a:endParaRPr lang="fr-FR" sz="1055" dirty="0">
              <a:solidFill>
                <a:srgbClr val="1321A1"/>
              </a:solidFill>
              <a:latin typeface="Arial Unicode MS" pitchFamily="34" charset="-128"/>
              <a:ea typeface="Times New Roman" panose="02020603050405020304" pitchFamily="18" charset="0"/>
              <a:cs typeface="Arial Unicode MS" pitchFamily="34" charset="-128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3"/>
          <p:cNvSpPr>
            <a:spLocks noChangeArrowheads="1"/>
          </p:cNvSpPr>
          <p:nvPr/>
        </p:nvSpPr>
        <p:spPr bwMode="auto">
          <a:xfrm>
            <a:off x="1565276" y="5149851"/>
            <a:ext cx="9102725" cy="1163873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C1D6FF"/>
              </a:gs>
              <a:gs pos="100000">
                <a:srgbClr val="FFFF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endParaRPr lang="fr-FR" altLang="fr-FR">
              <a:cs typeface="Arial" panose="020B0604020202020204" pitchFamily="34" charset="0"/>
            </a:endParaRPr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2905125" y="1673860"/>
            <a:ext cx="6381751" cy="37846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865" b="1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Mini Projet dans NLP </a:t>
            </a:r>
            <a:endParaRPr lang="fr-FR" sz="1865" b="1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00" name="Text Box 28"/>
          <p:cNvSpPr txBox="1">
            <a:spLocks noChangeArrowheads="1"/>
          </p:cNvSpPr>
          <p:nvPr/>
        </p:nvSpPr>
        <p:spPr bwMode="auto">
          <a:xfrm>
            <a:off x="1719264" y="5133976"/>
            <a:ext cx="3538537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fr-FR" altLang="fr-FR" i="1" dirty="0">
                <a:cs typeface="Times New Roman" panose="02020603050405020304" pitchFamily="18" charset="0"/>
              </a:rPr>
              <a:t>preparé par:</a:t>
            </a:r>
            <a:endParaRPr lang="fr-FR" altLang="fr-FR" i="1" dirty="0">
              <a:cs typeface="Times New Roman" panose="02020603050405020304" pitchFamily="18" charset="0"/>
            </a:endParaRPr>
          </a:p>
          <a:p>
            <a:pPr eaLnBrk="1" hangingPunct="1"/>
            <a:r>
              <a:rPr lang="fr-FR" altLang="fr-FR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MOUNABIH Yassine</a:t>
            </a:r>
            <a:endParaRPr lang="en-US" altLang="fr-FR" b="1" i="1" dirty="0">
              <a:solidFill>
                <a:srgbClr val="1321A1"/>
              </a:solidFill>
              <a:cs typeface="Times New Roman" panose="02020603050405020304" pitchFamily="18" charset="0"/>
            </a:endParaRPr>
          </a:p>
        </p:txBody>
      </p:sp>
      <p:sp>
        <p:nvSpPr>
          <p:cNvPr id="4101" name="Text Box 30"/>
          <p:cNvSpPr txBox="1">
            <a:spLocks noChangeArrowheads="1"/>
          </p:cNvSpPr>
          <p:nvPr/>
        </p:nvSpPr>
        <p:spPr bwMode="auto">
          <a:xfrm>
            <a:off x="7620000" y="5133976"/>
            <a:ext cx="2895600" cy="1229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r" eaLnBrk="1" hangingPunct="1"/>
            <a:r>
              <a:rPr lang="fr-FR" altLang="fr-FR" i="1" dirty="0">
                <a:cs typeface="Times New Roman" panose="02020603050405020304" pitchFamily="18" charset="0"/>
              </a:rPr>
              <a:t>Encadré par:</a:t>
            </a:r>
            <a:endParaRPr lang="fr-FR" altLang="fr-FR" sz="1600" i="1" dirty="0">
              <a:cs typeface="Times New Roman" panose="02020603050405020304" pitchFamily="18" charset="0"/>
            </a:endParaRPr>
          </a:p>
          <a:p>
            <a:pPr algn="r" eaLnBrk="1" hangingPunct="1"/>
            <a:r>
              <a:rPr lang="fr-FR" altLang="fr-FR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Prof. </a:t>
            </a:r>
            <a:r>
              <a:rPr lang="en-US" altLang="en-US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Rahhal ERRATTAHI</a:t>
            </a:r>
            <a:endParaRPr lang="en-US" altLang="en-US" b="1" i="1" dirty="0">
              <a:solidFill>
                <a:srgbClr val="1321A1"/>
              </a:solidFill>
              <a:cs typeface="Times New Roman" panose="02020603050405020304" pitchFamily="18" charset="0"/>
            </a:endParaRPr>
          </a:p>
          <a:p>
            <a:pPr algn="r" eaLnBrk="1" hangingPunct="1"/>
            <a:r>
              <a:rPr lang="fr-FR" altLang="en-US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Doc. </a:t>
            </a:r>
            <a:r>
              <a:rPr lang="en-US" altLang="en-US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BELFROUH SANAE</a:t>
            </a:r>
            <a:r>
              <a:rPr lang="fr-FR" altLang="fr-FR" sz="2000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	</a:t>
            </a:r>
            <a:r>
              <a:rPr lang="fr-FR" altLang="fr-FR" sz="1600" b="1" i="1" dirty="0">
                <a:solidFill>
                  <a:srgbClr val="1321A1"/>
                </a:solidFill>
                <a:cs typeface="Times New Roman" panose="02020603050405020304" pitchFamily="18" charset="0"/>
              </a:rPr>
              <a:t>	</a:t>
            </a:r>
            <a:endParaRPr lang="fr-FR" altLang="fr-FR" sz="1600" b="1" i="1" dirty="0">
              <a:solidFill>
                <a:srgbClr val="1321A1"/>
              </a:solidFill>
              <a:cs typeface="Times New Roman" panose="02020603050405020304" pitchFamily="18" charset="0"/>
            </a:endParaRPr>
          </a:p>
        </p:txBody>
      </p:sp>
      <p:sp>
        <p:nvSpPr>
          <p:cNvPr id="4102" name="TextBox 3"/>
          <p:cNvSpPr txBox="1">
            <a:spLocks noChangeArrowheads="1"/>
          </p:cNvSpPr>
          <p:nvPr/>
        </p:nvSpPr>
        <p:spPr bwMode="auto">
          <a:xfrm>
            <a:off x="1981200" y="3166634"/>
            <a:ext cx="82296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en-US" sz="3200" b="1" dirty="0"/>
              <a:t>Prédiction de </a:t>
            </a:r>
            <a:r>
              <a:rPr lang="en-US" altLang="en-US" sz="3200" b="1" dirty="0"/>
              <a:t>Lisibilité de Texte</a:t>
            </a:r>
            <a:r>
              <a:rPr lang="fr-FR" altLang="en-US" sz="3200" b="1" dirty="0"/>
              <a:t> et Analyse de Coherence</a:t>
            </a:r>
            <a:endParaRPr lang="fr-FR" altLang="en-US" sz="3200" b="1" dirty="0"/>
          </a:p>
        </p:txBody>
      </p:sp>
      <p:sp>
        <p:nvSpPr>
          <p:cNvPr id="2" name="Rectangle 53"/>
          <p:cNvSpPr>
            <a:spLocks noChangeArrowheads="1"/>
          </p:cNvSpPr>
          <p:nvPr/>
        </p:nvSpPr>
        <p:spPr bwMode="auto">
          <a:xfrm>
            <a:off x="1770429" y="168045"/>
            <a:ext cx="9102725" cy="72290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C1D6FF"/>
              </a:gs>
              <a:gs pos="100000">
                <a:srgbClr val="FFFF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endParaRPr lang="fr-FR" altLang="fr-FR">
              <a:cs typeface="Arial" panose="020B0604020202020204" pitchFamily="34" charset="0"/>
            </a:endParaRPr>
          </a:p>
        </p:txBody>
      </p:sp>
      <p:sp>
        <p:nvSpPr>
          <p:cNvPr id="3" name="Text Box 21"/>
          <p:cNvSpPr txBox="1">
            <a:spLocks noChangeArrowheads="1"/>
          </p:cNvSpPr>
          <p:nvPr/>
        </p:nvSpPr>
        <p:spPr bwMode="auto">
          <a:xfrm>
            <a:off x="2774217" y="125420"/>
            <a:ext cx="6381751" cy="5835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65" dirty="0">
                <a:solidFill>
                  <a:srgbClr val="1321A1"/>
                </a:solidFill>
                <a:latin typeface="Calibri" panose="020F0502020204030204" charset="0"/>
                <a:cs typeface="Times New Roman" panose="02020603050405020304" pitchFamily="18" charset="0"/>
              </a:rPr>
              <a:t>Ecole Nationale des Sciences Appliquées</a:t>
            </a:r>
            <a:endParaRPr lang="fr-FR" sz="1065" dirty="0">
              <a:solidFill>
                <a:srgbClr val="1321A1"/>
              </a:solidFill>
              <a:latin typeface="Calibri" panose="020F0502020204030204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1065" dirty="0">
                <a:solidFill>
                  <a:srgbClr val="1321A1"/>
                </a:solidFill>
                <a:latin typeface="Calibri" panose="020F0502020204030204" charset="0"/>
                <a:cs typeface="Times New Roman" panose="02020603050405020304" pitchFamily="18" charset="0"/>
              </a:rPr>
              <a:t>Telecommunications, </a:t>
            </a:r>
            <a:r>
              <a:rPr lang="fr-FR" altLang="en-US" sz="1065" dirty="0">
                <a:solidFill>
                  <a:srgbClr val="1321A1"/>
                </a:solidFill>
                <a:latin typeface="Calibri" panose="020F0502020204030204" charset="0"/>
                <a:cs typeface="Times New Roman" panose="02020603050405020304" pitchFamily="18" charset="0"/>
              </a:rPr>
              <a:t>Réseaux et Département IT </a:t>
            </a:r>
            <a:endParaRPr lang="fr-FR" altLang="en-US" sz="1065" dirty="0">
              <a:solidFill>
                <a:srgbClr val="1321A1"/>
              </a:solidFill>
              <a:latin typeface="Calibri" panose="020F0502020204030204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fr-FR" sz="1065" dirty="0">
                <a:solidFill>
                  <a:srgbClr val="1321A1"/>
                </a:solidFill>
                <a:latin typeface="Calibri" panose="020F0502020204030204" charset="0"/>
                <a:cs typeface="Times New Roman" panose="02020603050405020304" pitchFamily="18" charset="0"/>
              </a:rPr>
              <a:t>Academic year : 2026-2027</a:t>
            </a:r>
            <a:endParaRPr lang="fr-FR" sz="1065" dirty="0">
              <a:solidFill>
                <a:srgbClr val="1321A1"/>
              </a:solidFill>
              <a:latin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INTRODUCTION &amp; PROBLÉMATIQUE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Problématique et objectif du projet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22A43"/>
          </a:solidFill>
          <a:ln w="12700">
            <a:solidFill>
              <a:srgbClr val="122A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848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prédire automatiquement la difficulté de lecture d’un </a:t>
            </a:r>
            <a:r>
              <a:rPr lang="fr-FR" alt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et mesurer sa cohérence sémantique et lexicale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3383280" cy="64008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118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BESOIN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3192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Savoir vite si un texte est facile ou difficile à lire. Les formules classiques (Flesch) se limitent à des indices de surface : longueur des mots et des phrases.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4290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16552" y="3429000"/>
            <a:ext cx="3383280" cy="64008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36118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NOTRE APPROCHE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93192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Régression supervisée sur le score humain BT_easiness : traits linguistiques, TF-IDF et embeddings MiniLM, comparés à une baseline.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34290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3024" y="3429000"/>
            <a:ext cx="3383280" cy="64008"/>
          </a:xfrm>
          <a:prstGeom prst="rect">
            <a:avLst/>
          </a:prstGeom>
          <a:solidFill>
            <a:srgbClr val="7B6BB0"/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0184" y="36118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FINAL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393192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modèle Ridge hybride évalué sans fuite de données, et une application Streamlit : score, cohésion entre phrases, conseils d’écriture.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INTRODUCTION &amp;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: prédire une difficulté de lecture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488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4 724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43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Extraits bruts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377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4904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77640" y="21488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4 723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743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Extraits retenus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487375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95160" y="2148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CIBLE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468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BT_easiness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2860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le score est élevé, plus le passage est jugé facile.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91545" cy="20510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657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DES DONNÉES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776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: colonne « Excerpt » ; </a:t>
            </a:r>
            <a:endParaRPr lang="en-US" sz="1400" dirty="0">
              <a:solidFill>
                <a:srgbClr val="122A4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humaine : « BT_easiness 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Auteur + titre servent au regroupement, jamais comme variables d’entrée.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 174 mots par passage (113 à 215) ; </a:t>
            </a:r>
            <a:endParaRPr lang="en-US" sz="1400" dirty="0">
              <a:solidFill>
                <a:srgbClr val="122A4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langue : anglais.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PRÉTRAITEMENT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variables linguistiques interprétables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4643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68880"/>
            <a:ext cx="209854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788920"/>
            <a:ext cx="20985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Extraits vides, cibles manquantes, doublons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12948" y="25146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24428" y="2011680"/>
            <a:ext cx="24643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07308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07308" y="2468880"/>
            <a:ext cx="209854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07308" y="2788920"/>
            <a:ext cx="20985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et phrases par règles simples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88736" y="25146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0216" y="2011680"/>
            <a:ext cx="24643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83096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2468880"/>
            <a:ext cx="209854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83096" y="2788920"/>
            <a:ext cx="20985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Longueur, syllabes, richesse, connecteurs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64524" y="25146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76004" y="2011680"/>
            <a:ext cx="24643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58884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58884" y="2468880"/>
            <a:ext cx="209854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58884" y="2788920"/>
            <a:ext cx="20985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Scaler ajusté uniquement au train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22A43"/>
          </a:solidFill>
          <a:ln w="12700">
            <a:solidFill>
              <a:srgbClr val="122A4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3977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Teachers explain the lesson. Students understand the example.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REPRÉSENTATION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Rapprocher la forme et le sens du texte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Quatre familles de caractéristiques réunies dans un seul vecteur par passage.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2468880" cy="64008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2402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30 000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mots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Unigrammes + bigrammes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011680"/>
            <a:ext cx="2468880" cy="64008"/>
          </a:xfrm>
          <a:prstGeom prst="rect">
            <a:avLst/>
          </a:prstGeom>
          <a:solidFill>
            <a:srgbClr val="7B6BB0"/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11880" y="22402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7B6B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caractères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n-grammes 3 à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011680"/>
            <a:ext cx="2468880" cy="640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2402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Linguistique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Complexité + cohésion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0" y="2011680"/>
            <a:ext cx="2468880" cy="64008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22402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MiniLM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préentraînés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8404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011680" y="429768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122A43"/>
          </a:solidFill>
          <a:ln w="12700">
            <a:solidFill>
              <a:srgbClr val="122A4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86000" y="429768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E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60 397 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caractéristiques possibles pour la représentation hybride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ENTRAÎNEMENT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protocole de test contre les fuites de données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4 723 EXTRAITS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7431441" cy="320040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8681" y="2468880"/>
            <a:ext cx="1576570" cy="32004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5251" y="2468880"/>
            <a:ext cx="1599029" cy="32004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3 309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37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08681" y="2926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08681" y="3337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785251" y="2926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785251" y="3337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4160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434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GroupShuffleSplit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Groupes ouvrage distincts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406908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07992" y="4160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4434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GroupKFold · 5 plis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754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 sur développement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1584" y="406908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84464" y="4160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4434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sur train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84464" y="4754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Vectoriseurs / scaler sans fuite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final réentraîné sur 4 011 passages de développement.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SÉLECTION DU MODÈLE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hybride : meilleur en validation croisée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Hybride complet · Ridge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249424"/>
            <a:ext cx="621792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249424"/>
            <a:ext cx="4335667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46920" y="21945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0,4881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MiniLM + linguistique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798064"/>
            <a:ext cx="621792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798064"/>
            <a:ext cx="4445813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6920" y="2743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0,5005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linguistique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346704"/>
            <a:ext cx="621792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346704"/>
            <a:ext cx="4786910" cy="182880"/>
          </a:xfrm>
          <a:prstGeom prst="roundRect">
            <a:avLst>
              <a:gd name="adj" fmla="val 25000"/>
            </a:avLst>
          </a:prstGeom>
          <a:solidFill>
            <a:srgbClr val="9BB0BE"/>
          </a:solidFill>
          <a:ln w="12700">
            <a:solidFill>
              <a:srgbClr val="9BB0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3291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0,5389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40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mots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895344"/>
            <a:ext cx="621792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895344"/>
            <a:ext cx="5050728" cy="182880"/>
          </a:xfrm>
          <a:prstGeom prst="roundRect">
            <a:avLst>
              <a:gd name="adj" fmla="val 25000"/>
            </a:avLst>
          </a:prstGeom>
          <a:solidFill>
            <a:srgbClr val="9BB0BE"/>
          </a:solidFill>
          <a:ln w="12700">
            <a:solidFill>
              <a:srgbClr val="9BB0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38404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0,5686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389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linguistiques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4443984"/>
            <a:ext cx="621792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4443984"/>
            <a:ext cx="5740028" cy="182880"/>
          </a:xfrm>
          <a:prstGeom prst="roundRect">
            <a:avLst>
              <a:gd name="adj" fmla="val 25000"/>
            </a:avLst>
          </a:prstGeom>
          <a:solidFill>
            <a:srgbClr val="9BB0BE"/>
          </a:solidFill>
          <a:ln w="12700">
            <a:solidFill>
              <a:srgbClr val="9BB0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46920" y="43891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0,6462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DF0EA"/>
          </a:solidFill>
          <a:ln w="9525">
            <a:solidFill>
              <a:srgbClr val="F6C9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3949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: Hybrid all (Ridge), α = 1   •   MAE CV 0,4881 ± 0,0152   •   R² CV 0,6384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ÉVALUATION FINALE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test = 0,5108 sur 712 passages jamais vus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122A43"/>
          </a:solidFill>
          <a:ln w="12700">
            <a:solidFill>
              <a:srgbClr val="122A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 RIDGE HYBRIDE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0,5108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74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· erreur absolue moyenne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062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E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= 0,6289    ·    RMSE = 0,6405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65960"/>
            <a:ext cx="679399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20640" y="21488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À UNE BASELINE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606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Moyenne (baseline)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660904"/>
            <a:ext cx="292608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660904"/>
            <a:ext cx="2531644" cy="182880"/>
          </a:xfrm>
          <a:prstGeom prst="roundRect">
            <a:avLst>
              <a:gd name="adj" fmla="val 25000"/>
            </a:avLst>
          </a:prstGeom>
          <a:solidFill>
            <a:srgbClr val="9BB0BE"/>
          </a:solidFill>
          <a:ln w="12700">
            <a:solidFill>
              <a:srgbClr val="9BB0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52760" y="26060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0,8652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246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hybride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3300984"/>
            <a:ext cx="2926080" cy="182880"/>
          </a:xfrm>
          <a:prstGeom prst="roundRect">
            <a:avLst>
              <a:gd name="adj" fmla="val 25000"/>
            </a:avLst>
          </a:prstGeom>
          <a:solidFill>
            <a:srgbClr val="E2E9E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300984"/>
            <a:ext cx="1494642" cy="182880"/>
          </a:xfrm>
          <a:prstGeom prst="roundRect">
            <a:avLst>
              <a:gd name="adj" fmla="val 25000"/>
            </a:avLst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52760" y="32461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0,5108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402336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: prédit la moyenne BT du développement pour tout texte. Le modèle apporte un gain réel.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461772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DF0EA"/>
          </a:solidFill>
          <a:ln w="9525">
            <a:solidFill>
              <a:srgbClr val="F6C9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461772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41 % de MAE en moins que la baseline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DIAGNOSTIC &amp; ANALYSE CRITIQUE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informations le modèle exploite-t-il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sur test : importance par permutation + erreur selon la longueur.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05740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PAR FAMILLE · HAUSSE DE MAE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231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MiniLM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478024"/>
            <a:ext cx="2103120" cy="182880"/>
          </a:xfrm>
          <a:prstGeom prst="roundRect">
            <a:avLst>
              <a:gd name="adj" fmla="val 25000"/>
            </a:avLst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24231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+0,2103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9718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Linguistique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026664"/>
            <a:ext cx="1029059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9718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+0,1029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204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caractères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575304"/>
            <a:ext cx="622035" cy="182880"/>
          </a:xfrm>
          <a:prstGeom prst="roundRect">
            <a:avLst>
              <a:gd name="adj" fmla="val 25000"/>
            </a:avLst>
          </a:prstGeom>
          <a:solidFill>
            <a:srgbClr val="7B6BB0"/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3520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B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+0,0622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069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4123944"/>
            <a:ext cx="204012" cy="18288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4069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+0,0204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920240"/>
            <a:ext cx="533095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37960" y="20574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PAR LONGUEUR DES TEXTES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4688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Courts ≤ 166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2523744"/>
            <a:ext cx="1661302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87000" y="24688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0,486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108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167–184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163824"/>
            <a:ext cx="1750179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87000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0,512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749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Longs ≥ 185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21040" y="3803904"/>
            <a:ext cx="1828800" cy="182880"/>
          </a:xfrm>
          <a:prstGeom prst="roundRect">
            <a:avLst>
              <a:gd name="adj" fmla="val 25000"/>
            </a:avLst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87000" y="37490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0,535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DF0EA"/>
          </a:solidFill>
          <a:ln w="9525">
            <a:solidFill>
              <a:srgbClr val="F6C9B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57784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Enjeu : un bon score moyen ne garantit pas la même précision selon les formats de texte.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DIAGNOSTIC &amp; ANALYSE CRITIQUE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traits linguistiques comptent vraiment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par permutation sur le test · hausse de MAE quand un trait est mélangé.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8580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graphicFrame>
        <p:nvGraphicFramePr>
          <p:cNvPr id="10" name="Chart 0"/>
          <p:cNvGraphicFramePr/>
          <p:nvPr/>
        </p:nvGraphicFramePr>
        <p:xfrm>
          <a:off x="640080" y="2011680"/>
          <a:ext cx="66751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1920240"/>
            <a:ext cx="39593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920240"/>
            <a:ext cx="3776472" cy="64008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21031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TRAITS DE SURFACE DOMINENT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37744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syllables_per_word (+0,0614), Flesch-Kincaid (+0,0400) et Flesch reading ease (+0,0218) portent l’essentiel du signal linguistique.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3337560"/>
            <a:ext cx="39593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337560"/>
            <a:ext cx="3776472" cy="640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3520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COHÉSION LEXICALE N’APPORTE RIEN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379476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lexical_cohesion ≈ +0,0001 :</a:t>
            </a:r>
            <a:r>
              <a:rPr lang="en-US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 permutation individuelle influence tr</a:t>
            </a:r>
            <a:r>
              <a:rPr lang="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è</a:t>
            </a:r>
            <a:r>
              <a:rPr lang="en-US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peu la MAE du mod</a:t>
            </a:r>
            <a:r>
              <a:rPr lang="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è</a:t>
            </a:r>
            <a:r>
              <a:rPr lang="en-US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le. Elle reste toutefois utile pour mesurer le chevauchement lexical entre les phrases.</a:t>
            </a:r>
            <a:endParaRPr lang="en-US" altLang="en-US" sz="1100" dirty="0">
              <a:solidFill>
                <a:srgbClr val="667A8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80960" y="4754880"/>
            <a:ext cx="39593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0" y="4754880"/>
            <a:ext cx="3776472" cy="64008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≈ 0 OU NÉGATIVES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521208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sentence_count et avg_sentence_length </a:t>
            </a:r>
            <a:r>
              <a:rPr lang="en-US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présentent une faible importance individuelle. Cela peut s'expliquer par une redondance avec d'autres caractéristiques</a:t>
            </a:r>
            <a:r>
              <a:rPr lang="fr-FR" altLang="en-US" sz="11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fr-FR" altLang="en-US" sz="1100" dirty="0">
              <a:solidFill>
                <a:srgbClr val="667A8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fr-FR" alt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NOUVEAUTÉ DU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 lexicale et cohésion sémantique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indicateurs calculés entre phrases voisines, puis moyennés et affichés séparément dans l’application.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fr-FR" alt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546811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20240"/>
            <a:ext cx="5285232" cy="64008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10312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 LEXICALE · MOTS COMMUNS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Chevauchement des mots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8803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8803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phrases voisines partagent-elles les mêmes mots de contenu 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47288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44728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de plus de 2 lettres, hors mots vides ; Jaccard par paire, puis moyenne.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1421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01421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voit pas les synonymes ni les reformulations.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4632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46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= |A ∩ B| / |A ∪ B|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4846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Échelle : 0 à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920240"/>
            <a:ext cx="546811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920240"/>
            <a:ext cx="5285232" cy="64008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10312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 SÉMANTIQUE · SENS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3774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Proximité de sens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8803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8803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phrases voisines parlent-elles de la même chose 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447288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344728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MiniLM de chaque phrase, cosinus par paire, puis moyenne.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01421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401421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la proximité de sujet, pas la logique du discours.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484632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846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cos(u, v) = u · v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4846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Échelle : −1 à 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18288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fr-FR" alt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</a:t>
            </a: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LIMITES DU PROJET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modèle ne garantit pas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Quatre limites à garder en tête avant d’interpréter un score.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E2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fr-FR" alt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6811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20240"/>
            <a:ext cx="5285232" cy="64008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48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12140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Textes très courts ou très longs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6032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contient surtout des passages de 113 à 215 mots. Hors de cette plage, le score BT est moins fiable ; l’erreur monte déjà avec la longueur (MAE 0,486 → 0,535).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46811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920240"/>
            <a:ext cx="5285232" cy="640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148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2140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 lexicale peu fiable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6032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Jaccard ne compte que les mots communs : 0,020 sur l’exemple, contre 0,430 en cosinus. Son importance par permutation est quasi nulle.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46811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40480"/>
            <a:ext cx="5285232" cy="64008"/>
          </a:xfrm>
          <a:prstGeom prst="rect">
            <a:avLst/>
          </a:prstGeom>
          <a:solidFill>
            <a:srgbClr val="7B6BB0"/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6B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0416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Anglais uniquement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8056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CLEAR, règles de syllabes / Flesch et encodeur MiniLM sont conçus pour l’anglais. Aucun test sur d’autres langues.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46811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9EF"/>
            </a:solidFill>
            <a:prstDash val="solid"/>
          </a:ln>
          <a:effectLst>
            <a:outerShdw blurRad="76200" dist="25400" dir="5400000" algn="bl" rotWithShape="0">
              <a:srgbClr val="122A4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840480"/>
            <a:ext cx="5285232" cy="64008"/>
          </a:xfrm>
          <a:prstGeom prst="rect">
            <a:avLst/>
          </a:prstGeom>
          <a:solidFill>
            <a:srgbClr val="058E89"/>
          </a:solidFill>
          <a:ln w="12700">
            <a:solidFill>
              <a:srgbClr val="058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0416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cohérence logique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48056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cosinus mesure une proximité de sujet, pas une argumentation : contradictions et enchaînement logique ne sont pas détectés.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DF0EA"/>
          </a:solidFill>
          <a:ln w="9525">
            <a:solidFill>
              <a:srgbClr val="F6C9B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80644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score affiché est une estimation, pas une mesure certifiée de lisibilité ou de cohérence.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176530"/>
            <a:ext cx="76200" cy="274320"/>
          </a:xfrm>
          <a:prstGeom prst="rect">
            <a:avLst/>
          </a:prstGeom>
          <a:solidFill>
            <a:srgbClr val="EB694C"/>
          </a:solidFill>
          <a:ln w="12700">
            <a:solidFill>
              <a:srgbClr val="EB6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653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fr-FR" alt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</a:t>
            </a:r>
            <a:r>
              <a:rPr lang="en-US" sz="1100" b="1" kern="0" spc="100" dirty="0">
                <a:solidFill>
                  <a:srgbClr val="05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APPLICATION STREAMLIT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0" y="6455664"/>
            <a:ext cx="13990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fr-FR" alt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r>
              <a:rPr lang="en-US" sz="900" dirty="0">
                <a:solidFill>
                  <a:srgbClr val="66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15</a:t>
            </a:r>
            <a:endParaRPr lang="en-US" sz="9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8810"/>
            <a:ext cx="12192000" cy="5817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/>
          <p:cNvSpPr txBox="1"/>
          <p:nvPr/>
        </p:nvSpPr>
        <p:spPr>
          <a:xfrm>
            <a:off x="4930140" y="3246120"/>
            <a:ext cx="43999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r>
              <a:rPr lang="fr-FR" altLang="en-US" sz="1600" b="1" dirty="0">
                <a:solidFill>
                  <a:srgbClr val="EB6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erci Pour votre Attention!</a:t>
            </a:r>
            <a:endParaRPr lang="fr-FR" altLang="en-US" sz="1600" b="1" dirty="0">
              <a:solidFill>
                <a:srgbClr val="EB694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5838</Words>
  <Application>WPS Presentation</Application>
  <PresentationFormat>On-screen Show (16:9)</PresentationFormat>
  <Paragraphs>389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Calibri</vt:lpstr>
      <vt:lpstr>Microsoft YaHei</vt:lpstr>
      <vt:lpstr>Arial Unicode MS</vt:lpstr>
      <vt:lpstr>MS PGothic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Lisibilité des textes &amp; continuité sémantique</dc:title>
  <dc:creator>PptxGenJS</dc:creator>
  <dc:subject>PptxGenJS Presentation</dc:subject>
  <cp:lastModifiedBy>WPS_1776886495</cp:lastModifiedBy>
  <cp:revision>17</cp:revision>
  <dcterms:created xsi:type="dcterms:W3CDTF">2026-10-26T09:36:00Z</dcterms:created>
  <dcterms:modified xsi:type="dcterms:W3CDTF">2026-10-27T23:44:45Z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C9F2609AF1BC499996D77F06B1632A4B_12</vt:lpwstr>
  </property>
  <property fmtid="{D5CDD505-2E9C-101B-9397-08002B2CF9AE}" pid="3" name="KSOProductBuildVer">
    <vt:lpwstr>1033-12.1.0.29162</vt:lpwstr>
  </property>
</Properties>
</file>